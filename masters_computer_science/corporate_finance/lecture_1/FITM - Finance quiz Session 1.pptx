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4"/>
  </p:sldMasterIdLst>
  <p:notesMasterIdLst>
    <p:notesMasterId r:id="rId30"/>
  </p:notesMasterIdLst>
  <p:handoutMasterIdLst>
    <p:handoutMasterId r:id="rId31"/>
  </p:handoutMasterIdLst>
  <p:sldIdLst>
    <p:sldId id="256" r:id="rId5"/>
    <p:sldId id="463" r:id="rId6"/>
    <p:sldId id="488" r:id="rId7"/>
    <p:sldId id="489" r:id="rId8"/>
    <p:sldId id="490" r:id="rId9"/>
    <p:sldId id="491" r:id="rId10"/>
    <p:sldId id="492" r:id="rId11"/>
    <p:sldId id="493" r:id="rId12"/>
    <p:sldId id="494" r:id="rId13"/>
    <p:sldId id="495" r:id="rId14"/>
    <p:sldId id="496" r:id="rId15"/>
    <p:sldId id="497" r:id="rId16"/>
    <p:sldId id="498" r:id="rId17"/>
    <p:sldId id="499" r:id="rId18"/>
    <p:sldId id="500" r:id="rId19"/>
    <p:sldId id="501" r:id="rId20"/>
    <p:sldId id="502" r:id="rId21"/>
    <p:sldId id="503" r:id="rId22"/>
    <p:sldId id="505" r:id="rId23"/>
    <p:sldId id="506" r:id="rId24"/>
    <p:sldId id="507" r:id="rId25"/>
    <p:sldId id="508" r:id="rId26"/>
    <p:sldId id="509" r:id="rId27"/>
    <p:sldId id="510" r:id="rId28"/>
    <p:sldId id="315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clrMode="bw" frameSlides="1"/>
  <p:clrMru>
    <a:srgbClr val="185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363"/>
    <p:restoredTop sz="95865" autoAdjust="0"/>
  </p:normalViewPr>
  <p:slideViewPr>
    <p:cSldViewPr snapToGrid="0" snapToObjects="1">
      <p:cViewPr varScale="1">
        <p:scale>
          <a:sx n="77" d="100"/>
          <a:sy n="77" d="100"/>
        </p:scale>
        <p:origin x="184" y="19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1" d="100"/>
        <a:sy n="141" d="100"/>
      </p:scale>
      <p:origin x="0" y="65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F7FC8-EDF1-B745-B794-DEBC2B28F3A5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C7BF8-8EEA-E746-B6B1-70A030903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955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7C15C-9360-D846-82FF-FB09835C3991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098D7-F03D-454D-A4F0-32B46C79E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1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 userDrawn="1"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Drag picture to placeholder or click icon to add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1781175"/>
            <a:ext cx="7940675" cy="357187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3106132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9D1D110F-3F4E-48D9-B8AA-5D0E825AFDBA}" type="datetime1">
              <a:rPr lang="en-US" smtClean="0"/>
              <a:pPr/>
              <a:t>10/26/25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Finance for IT managers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International Masters </a:t>
            </a:r>
          </a:p>
          <a:p>
            <a:r>
              <a:rPr lang="en-US"/>
              <a:t>Fall </a:t>
            </a:r>
            <a:r>
              <a:rPr lang="en-US" dirty="0"/>
              <a:t>2025 program</a:t>
            </a:r>
          </a:p>
        </p:txBody>
      </p:sp>
      <p:pic>
        <p:nvPicPr>
          <p:cNvPr id="4" name="Image 3" descr="\\shares.ionis.epitech.net\EPITA_MASTER_INTERNATIONAUX\Logos\EPITA GRADUATE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3" y="5798820"/>
            <a:ext cx="1869440" cy="1059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481638" y="6338125"/>
            <a:ext cx="2433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185CB9"/>
                </a:solidFill>
              </a:rPr>
              <a:t>©</a:t>
            </a:r>
            <a:r>
              <a:rPr lang="en-US" dirty="0"/>
              <a:t> </a:t>
            </a:r>
            <a:r>
              <a:rPr lang="en-US" b="1" dirty="0">
                <a:solidFill>
                  <a:srgbClr val="185CB9"/>
                </a:solidFill>
              </a:rPr>
              <a:t>Sylvie Appriou</a:t>
            </a:r>
          </a:p>
        </p:txBody>
      </p:sp>
    </p:spTree>
    <p:extLst>
      <p:ext uri="{BB962C8B-B14F-4D97-AF65-F5344CB8AC3E}">
        <p14:creationId xmlns:p14="http://schemas.microsoft.com/office/powerpoint/2010/main" val="86133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1610610"/>
            <a:ext cx="7772400" cy="2376950"/>
          </a:xfrm>
        </p:spPr>
        <p:txBody>
          <a:bodyPr/>
          <a:lstStyle/>
          <a:p>
            <a:r>
              <a:rPr lang="en-US" dirty="0"/>
              <a:t>Finance quiz</a:t>
            </a:r>
          </a:p>
        </p:txBody>
      </p:sp>
    </p:spTree>
    <p:extLst>
      <p:ext uri="{BB962C8B-B14F-4D97-AF65-F5344CB8AC3E}">
        <p14:creationId xmlns:p14="http://schemas.microsoft.com/office/powerpoint/2010/main" val="183075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</a:t>
            </a:r>
          </a:p>
        </p:txBody>
      </p:sp>
      <p:sp>
        <p:nvSpPr>
          <p:cNvPr id="717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503238" y="2400300"/>
            <a:ext cx="78835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formal</a:t>
            </a:r>
            <a:r>
              <a:rPr lang="fr-FR" b="1" dirty="0"/>
              <a:t>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statements</a:t>
            </a:r>
            <a:r>
              <a:rPr lang="fr-FR" b="1" dirty="0"/>
              <a:t> are </a:t>
            </a:r>
            <a:r>
              <a:rPr lang="fr-FR" b="1" dirty="0" err="1"/>
              <a:t>prepared</a:t>
            </a:r>
            <a:r>
              <a:rPr lang="fr-FR" b="1" dirty="0"/>
              <a:t> by </a:t>
            </a:r>
            <a:r>
              <a:rPr lang="fr-FR" b="1" dirty="0" err="1"/>
              <a:t>using</a:t>
            </a:r>
            <a:r>
              <a:rPr lang="fr-FR" b="1" dirty="0"/>
              <a:t> a trial balance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True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78691317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2</a:t>
            </a:r>
          </a:p>
        </p:txBody>
      </p:sp>
      <p:sp>
        <p:nvSpPr>
          <p:cNvPr id="819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433388" y="1943100"/>
            <a:ext cx="78835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summarizes</a:t>
            </a:r>
            <a:r>
              <a:rPr lang="fr-FR" b="1" dirty="0"/>
              <a:t> all the changes in </a:t>
            </a:r>
            <a:r>
              <a:rPr lang="fr-FR" b="1" dirty="0" err="1"/>
              <a:t>owner</a:t>
            </a:r>
            <a:r>
              <a:rPr lang="fr-FR" b="1" dirty="0"/>
              <a:t> ‘s </a:t>
            </a:r>
            <a:r>
              <a:rPr lang="fr-FR" b="1" dirty="0" err="1"/>
              <a:t>equity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occured</a:t>
            </a:r>
            <a:r>
              <a:rPr lang="fr-FR" b="1" dirty="0"/>
              <a:t> </a:t>
            </a:r>
            <a:r>
              <a:rPr lang="fr-FR" b="1" dirty="0" err="1"/>
              <a:t>during</a:t>
            </a:r>
            <a:r>
              <a:rPr lang="fr-FR" b="1" dirty="0"/>
              <a:t> a </a:t>
            </a:r>
            <a:r>
              <a:rPr lang="fr-FR" b="1" dirty="0" err="1"/>
              <a:t>period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called</a:t>
            </a:r>
            <a:r>
              <a:rPr lang="fr-FR" b="1" dirty="0"/>
              <a:t> the Capital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True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6613348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3</a:t>
            </a:r>
          </a:p>
        </p:txBody>
      </p:sp>
      <p:sp>
        <p:nvSpPr>
          <p:cNvPr id="921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534988" y="21780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All the Revenue, </a:t>
            </a:r>
            <a:r>
              <a:rPr lang="fr-FR" b="1" dirty="0" err="1"/>
              <a:t>Expense</a:t>
            </a:r>
            <a:r>
              <a:rPr lang="fr-FR" b="1" dirty="0"/>
              <a:t> and </a:t>
            </a:r>
            <a:r>
              <a:rPr lang="fr-FR" b="1" dirty="0" err="1"/>
              <a:t>Draw</a:t>
            </a:r>
            <a:r>
              <a:rPr lang="fr-FR" b="1" dirty="0"/>
              <a:t> </a:t>
            </a:r>
            <a:r>
              <a:rPr lang="fr-FR" b="1" dirty="0" err="1"/>
              <a:t>accounts</a:t>
            </a:r>
            <a:r>
              <a:rPr lang="fr-FR" b="1" dirty="0"/>
              <a:t> balance are reset to </a:t>
            </a:r>
            <a:r>
              <a:rPr lang="fr-FR" b="1" dirty="0" err="1"/>
              <a:t>zero</a:t>
            </a:r>
            <a:r>
              <a:rPr lang="fr-FR" b="1" dirty="0"/>
              <a:t> </a:t>
            </a:r>
            <a:r>
              <a:rPr lang="fr-FR" b="1" dirty="0" err="1"/>
              <a:t>at</a:t>
            </a:r>
            <a:r>
              <a:rPr lang="fr-FR" b="1" dirty="0"/>
              <a:t> the end of a business </a:t>
            </a:r>
            <a:r>
              <a:rPr lang="fr-FR" b="1" dirty="0" err="1"/>
              <a:t>accounting</a:t>
            </a:r>
            <a:r>
              <a:rPr lang="fr-FR" b="1" dirty="0"/>
              <a:t> </a:t>
            </a:r>
            <a:r>
              <a:rPr lang="fr-FR" b="1" dirty="0" err="1"/>
              <a:t>year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534987" y="4184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True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83552958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4</a:t>
            </a:r>
          </a:p>
        </p:txBody>
      </p:sp>
      <p:sp>
        <p:nvSpPr>
          <p:cNvPr id="1024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534988" y="24320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An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</a:t>
            </a:r>
            <a:r>
              <a:rPr lang="fr-FR" b="1" dirty="0" err="1"/>
              <a:t>also</a:t>
            </a:r>
            <a:r>
              <a:rPr lang="fr-FR" b="1" dirty="0"/>
              <a:t> </a:t>
            </a:r>
            <a:r>
              <a:rPr lang="fr-FR" b="1" dirty="0" err="1"/>
              <a:t>often</a:t>
            </a:r>
            <a:r>
              <a:rPr lang="fr-FR" b="1" dirty="0"/>
              <a:t> </a:t>
            </a:r>
            <a:r>
              <a:rPr lang="fr-FR" b="1" dirty="0" err="1"/>
              <a:t>referred</a:t>
            </a:r>
            <a:r>
              <a:rPr lang="fr-FR" b="1" dirty="0"/>
              <a:t> to as a Profit and </a:t>
            </a:r>
            <a:r>
              <a:rPr lang="fr-FR" b="1" dirty="0" err="1"/>
              <a:t>Loss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687388" y="52451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True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7824986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5</a:t>
            </a:r>
          </a:p>
        </p:txBody>
      </p:sp>
      <p:sp>
        <p:nvSpPr>
          <p:cNvPr id="1126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5349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All Balance </a:t>
            </a:r>
            <a:r>
              <a:rPr lang="fr-FR" b="1" dirty="0" err="1"/>
              <a:t>Sheets</a:t>
            </a:r>
            <a:r>
              <a:rPr lang="fr-FR" b="1" dirty="0"/>
              <a:t> have the </a:t>
            </a:r>
            <a:r>
              <a:rPr lang="fr-FR" b="1" dirty="0" err="1"/>
              <a:t>same</a:t>
            </a:r>
            <a:r>
              <a:rPr lang="fr-FR" b="1" dirty="0"/>
              <a:t> basic </a:t>
            </a:r>
            <a:r>
              <a:rPr lang="fr-FR" b="1" dirty="0" err="1"/>
              <a:t>categories</a:t>
            </a:r>
            <a:r>
              <a:rPr lang="fr-FR" b="1" dirty="0"/>
              <a:t> of </a:t>
            </a:r>
            <a:r>
              <a:rPr lang="fr-FR" b="1" dirty="0" err="1"/>
              <a:t>income</a:t>
            </a:r>
            <a:r>
              <a:rPr lang="fr-FR" b="1" dirty="0"/>
              <a:t> and </a:t>
            </a:r>
            <a:r>
              <a:rPr lang="fr-FR" b="1" dirty="0" err="1"/>
              <a:t>expenses</a:t>
            </a: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43080141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6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29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534988" y="20066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financial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summarizes</a:t>
            </a:r>
            <a:r>
              <a:rPr lang="fr-FR" b="1" dirty="0"/>
              <a:t> revenues and </a:t>
            </a:r>
            <a:r>
              <a:rPr lang="fr-FR" b="1" dirty="0" err="1"/>
              <a:t>expenses</a:t>
            </a:r>
            <a:r>
              <a:rPr lang="fr-FR" b="1" dirty="0"/>
              <a:t> for a </a:t>
            </a:r>
            <a:r>
              <a:rPr lang="fr-FR" b="1" dirty="0" err="1"/>
              <a:t>specific</a:t>
            </a:r>
            <a:r>
              <a:rPr lang="fr-FR" b="1" dirty="0"/>
              <a:t> </a:t>
            </a:r>
            <a:r>
              <a:rPr lang="fr-FR" b="1" dirty="0" err="1"/>
              <a:t>period</a:t>
            </a:r>
            <a:r>
              <a:rPr lang="fr-FR" b="1" dirty="0"/>
              <a:t> of time </a:t>
            </a:r>
            <a:r>
              <a:rPr lang="fr-FR" b="1" dirty="0" err="1"/>
              <a:t>such</a:t>
            </a:r>
            <a:r>
              <a:rPr lang="fr-FR" b="1" dirty="0"/>
              <a:t> as a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687388" y="30480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Balance sheet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687388" y="35433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None of the listed answer is correct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Capital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Income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9477767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7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473076" y="20447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Additional</a:t>
            </a:r>
            <a:r>
              <a:rPr lang="fr-FR" b="1" dirty="0"/>
              <a:t> information </a:t>
            </a:r>
            <a:r>
              <a:rPr lang="fr-FR" b="1" dirty="0" err="1"/>
              <a:t>provided</a:t>
            </a:r>
            <a:r>
              <a:rPr lang="fr-FR" b="1" dirty="0"/>
              <a:t> about a business </a:t>
            </a:r>
            <a:r>
              <a:rPr lang="fr-FR" b="1" dirty="0" err="1"/>
              <a:t>financial</a:t>
            </a:r>
            <a:r>
              <a:rPr lang="fr-FR" b="1" dirty="0"/>
              <a:t> condition and </a:t>
            </a:r>
            <a:r>
              <a:rPr lang="fr-FR" b="1" dirty="0" err="1"/>
              <a:t>methods</a:t>
            </a:r>
            <a:r>
              <a:rPr lang="fr-FR" b="1" dirty="0"/>
              <a:t> </a:t>
            </a:r>
            <a:r>
              <a:rPr lang="fr-FR" b="1" dirty="0" err="1"/>
              <a:t>used</a:t>
            </a:r>
            <a:r>
              <a:rPr lang="fr-FR" b="1" dirty="0"/>
              <a:t> in </a:t>
            </a:r>
            <a:r>
              <a:rPr lang="fr-FR" b="1" dirty="0" err="1"/>
              <a:t>preparing</a:t>
            </a:r>
            <a:r>
              <a:rPr lang="fr-FR" b="1" dirty="0"/>
              <a:t> Financial </a:t>
            </a:r>
            <a:r>
              <a:rPr lang="fr-FR" b="1" dirty="0" err="1"/>
              <a:t>statements</a:t>
            </a:r>
            <a:r>
              <a:rPr lang="fr-FR" b="1" dirty="0"/>
              <a:t> are </a:t>
            </a:r>
            <a:r>
              <a:rPr lang="fr-FR" b="1" dirty="0" err="1"/>
              <a:t>called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687388" y="30480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Management summary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687388" y="35433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Owner’s supplemental information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Notes to the Financial statements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Creditor’s notes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70236179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666750"/>
            <a:ext cx="8145462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8</a:t>
            </a:r>
            <a:br>
              <a:rPr lang="en-US">
                <a:latin typeface="Arial" charset="0"/>
                <a:ea typeface="ＭＳ Ｐゴシック" charset="0"/>
                <a:cs typeface="ＭＳ Ｐゴシック" charset="0"/>
              </a:rPr>
            </a:br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407988" y="189230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Financial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makes</a:t>
            </a:r>
            <a:r>
              <a:rPr lang="fr-FR" b="1" dirty="0"/>
              <a:t> up a business </a:t>
            </a:r>
            <a:r>
              <a:rPr lang="fr-FR" b="1" dirty="0" err="1"/>
              <a:t>assets</a:t>
            </a:r>
            <a:r>
              <a:rPr lang="fr-FR" b="1" dirty="0"/>
              <a:t>, </a:t>
            </a:r>
            <a:r>
              <a:rPr lang="fr-FR" b="1" dirty="0" err="1"/>
              <a:t>liabilities</a:t>
            </a:r>
            <a:r>
              <a:rPr lang="fr-FR" b="1" dirty="0"/>
              <a:t> and </a:t>
            </a:r>
            <a:r>
              <a:rPr lang="fr-FR" b="1" dirty="0" err="1"/>
              <a:t>equity</a:t>
            </a:r>
            <a:r>
              <a:rPr lang="fr-FR" b="1" dirty="0"/>
              <a:t> </a:t>
            </a:r>
            <a:r>
              <a:rPr lang="fr-FR" b="1" dirty="0" err="1"/>
              <a:t>at</a:t>
            </a:r>
            <a:r>
              <a:rPr lang="fr-FR" b="1" dirty="0"/>
              <a:t> a </a:t>
            </a:r>
            <a:r>
              <a:rPr lang="fr-FR" b="1" dirty="0" err="1"/>
              <a:t>specific</a:t>
            </a:r>
            <a:r>
              <a:rPr lang="fr-FR" b="1" dirty="0"/>
              <a:t> point in time </a:t>
            </a:r>
            <a:r>
              <a:rPr lang="fr-FR" b="1" dirty="0" err="1"/>
              <a:t>is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687388" y="30480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Income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687388" y="35433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Capital statement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auto">
          <a:xfrm>
            <a:off x="687388" y="40576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Statement of cash Flow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687388" y="45529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Balance Sheet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42556536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9</a:t>
            </a:r>
          </a:p>
        </p:txBody>
      </p:sp>
      <p:sp>
        <p:nvSpPr>
          <p:cNvPr id="1536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433388" y="2343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A </a:t>
            </a:r>
            <a:r>
              <a:rPr lang="fr-FR" b="1" dirty="0" err="1"/>
              <a:t>calendar</a:t>
            </a:r>
            <a:r>
              <a:rPr lang="fr-FR" b="1" dirty="0"/>
              <a:t>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is</a:t>
            </a:r>
            <a:r>
              <a:rPr lang="fr-FR" b="1" dirty="0"/>
              <a:t> a </a:t>
            </a:r>
            <a:r>
              <a:rPr lang="fr-FR" b="1" dirty="0" err="1"/>
              <a:t>year</a:t>
            </a:r>
            <a:r>
              <a:rPr lang="fr-FR" b="1" dirty="0"/>
              <a:t>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begins</a:t>
            </a:r>
            <a:r>
              <a:rPr lang="fr-FR" b="1" dirty="0"/>
              <a:t> in </a:t>
            </a:r>
            <a:r>
              <a:rPr lang="fr-FR" b="1" dirty="0" err="1"/>
              <a:t>June</a:t>
            </a:r>
            <a:r>
              <a:rPr lang="fr-FR" b="1" dirty="0"/>
              <a:t> and ends in May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96784122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10</a:t>
            </a:r>
          </a:p>
        </p:txBody>
      </p:sp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534988" y="1962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The </a:t>
            </a:r>
            <a:r>
              <a:rPr lang="fr-FR" b="1" dirty="0" err="1"/>
              <a:t>Statement</a:t>
            </a:r>
            <a:r>
              <a:rPr lang="fr-FR" b="1" dirty="0"/>
              <a:t> of Changes in Financial position reports the sources and uses of cash or </a:t>
            </a:r>
            <a:r>
              <a:rPr lang="fr-FR" b="1" dirty="0" err="1"/>
              <a:t>working</a:t>
            </a:r>
            <a:r>
              <a:rPr lang="fr-FR" b="1" dirty="0"/>
              <a:t> capital for a </a:t>
            </a:r>
            <a:r>
              <a:rPr lang="fr-FR" b="1" dirty="0" err="1"/>
              <a:t>specific</a:t>
            </a:r>
            <a:r>
              <a:rPr lang="fr-FR" b="1" dirty="0"/>
              <a:t> </a:t>
            </a:r>
            <a:r>
              <a:rPr lang="fr-FR" b="1" dirty="0" err="1"/>
              <a:t>period</a:t>
            </a:r>
            <a:r>
              <a:rPr lang="fr-FR" b="1" dirty="0"/>
              <a:t> of time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43158880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11</a:t>
            </a:r>
          </a:p>
        </p:txBody>
      </p:sp>
      <p:sp>
        <p:nvSpPr>
          <p:cNvPr id="1741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7411" name="Rectangle 4"/>
          <p:cNvSpPr>
            <a:spLocks noChangeArrowheads="1"/>
          </p:cNvSpPr>
          <p:nvPr/>
        </p:nvSpPr>
        <p:spPr bwMode="auto">
          <a:xfrm>
            <a:off x="534988" y="20891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Businesses </a:t>
            </a:r>
            <a:r>
              <a:rPr lang="fr-FR" b="1" dirty="0" err="1"/>
              <a:t>that</a:t>
            </a:r>
            <a:r>
              <a:rPr lang="fr-FR" b="1" dirty="0"/>
              <a:t> </a:t>
            </a:r>
            <a:r>
              <a:rPr lang="fr-FR" b="1" dirty="0" err="1"/>
              <a:t>sell</a:t>
            </a:r>
            <a:r>
              <a:rPr lang="fr-FR" b="1" dirty="0"/>
              <a:t> </a:t>
            </a:r>
            <a:r>
              <a:rPr lang="fr-FR" b="1" dirty="0" err="1"/>
              <a:t>products</a:t>
            </a:r>
            <a:r>
              <a:rPr lang="fr-FR" b="1" dirty="0"/>
              <a:t> have a </a:t>
            </a:r>
            <a:r>
              <a:rPr lang="fr-FR" b="1" dirty="0" err="1"/>
              <a:t>specific</a:t>
            </a:r>
            <a:r>
              <a:rPr lang="fr-FR" b="1" dirty="0"/>
              <a:t> section in </a:t>
            </a:r>
            <a:r>
              <a:rPr lang="fr-FR" b="1" dirty="0" err="1"/>
              <a:t>their</a:t>
            </a:r>
            <a:r>
              <a:rPr lang="fr-FR" b="1" dirty="0"/>
              <a:t>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Statement</a:t>
            </a:r>
            <a:r>
              <a:rPr lang="fr-FR" b="1" dirty="0"/>
              <a:t> </a:t>
            </a:r>
            <a:r>
              <a:rPr lang="fr-FR" b="1" dirty="0" err="1"/>
              <a:t>called</a:t>
            </a:r>
            <a:r>
              <a:rPr lang="fr-FR" b="1" dirty="0"/>
              <a:t> </a:t>
            </a:r>
            <a:r>
              <a:rPr lang="fr-FR" b="1" dirty="0" err="1"/>
              <a:t>Cost</a:t>
            </a:r>
            <a:r>
              <a:rPr lang="fr-FR" b="1" dirty="0"/>
              <a:t> of </a:t>
            </a:r>
            <a:r>
              <a:rPr lang="fr-FR" b="1" dirty="0" err="1"/>
              <a:t>Goods</a:t>
            </a:r>
            <a:r>
              <a:rPr lang="fr-FR" b="1" dirty="0"/>
              <a:t> </a:t>
            </a:r>
            <a:r>
              <a:rPr lang="fr-FR" b="1" dirty="0" err="1"/>
              <a:t>Sold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74267484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12</a:t>
            </a:r>
          </a:p>
        </p:txBody>
      </p:sp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534988" y="21145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 err="1"/>
              <a:t>Liabilities</a:t>
            </a:r>
            <a:r>
              <a:rPr lang="fr-FR" b="1" dirty="0"/>
              <a:t> are the </a:t>
            </a:r>
            <a:r>
              <a:rPr lang="fr-FR" b="1" dirty="0" err="1"/>
              <a:t>properties</a:t>
            </a:r>
            <a:r>
              <a:rPr lang="fr-FR" b="1" dirty="0"/>
              <a:t> </a:t>
            </a:r>
            <a:r>
              <a:rPr lang="fr-FR" b="1" dirty="0" err="1"/>
              <a:t>used</a:t>
            </a:r>
            <a:r>
              <a:rPr lang="fr-FR" b="1" dirty="0"/>
              <a:t> in the </a:t>
            </a:r>
            <a:r>
              <a:rPr lang="fr-FR" b="1" dirty="0" err="1"/>
              <a:t>operation</a:t>
            </a:r>
            <a:r>
              <a:rPr lang="fr-FR" b="1" dirty="0"/>
              <a:t> or </a:t>
            </a:r>
            <a:r>
              <a:rPr lang="fr-FR" b="1" dirty="0" err="1"/>
              <a:t>investment</a:t>
            </a:r>
            <a:r>
              <a:rPr lang="fr-FR" b="1" dirty="0"/>
              <a:t> </a:t>
            </a:r>
            <a:r>
              <a:rPr lang="fr-FR" b="1" dirty="0" err="1"/>
              <a:t>activities</a:t>
            </a:r>
            <a:r>
              <a:rPr lang="fr-FR" b="1" dirty="0"/>
              <a:t> of a business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385690703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13</a:t>
            </a:r>
          </a:p>
        </p:txBody>
      </p:sp>
      <p:sp>
        <p:nvSpPr>
          <p:cNvPr id="1945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534988" y="2152650"/>
            <a:ext cx="788352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 dirty="0"/>
              <a:t>Net </a:t>
            </a:r>
            <a:r>
              <a:rPr lang="fr-FR" b="1" dirty="0" err="1"/>
              <a:t>Income</a:t>
            </a:r>
            <a:r>
              <a:rPr lang="fr-FR" b="1" dirty="0"/>
              <a:t> </a:t>
            </a:r>
            <a:r>
              <a:rPr lang="fr-FR" b="1" dirty="0" err="1"/>
              <a:t>results</a:t>
            </a:r>
            <a:r>
              <a:rPr lang="fr-FR" b="1" dirty="0"/>
              <a:t> </a:t>
            </a:r>
            <a:r>
              <a:rPr lang="fr-FR" b="1" dirty="0" err="1"/>
              <a:t>when</a:t>
            </a:r>
            <a:r>
              <a:rPr lang="fr-FR" b="1" dirty="0"/>
              <a:t> </a:t>
            </a:r>
            <a:r>
              <a:rPr lang="fr-FR" b="1" dirty="0" err="1"/>
              <a:t>expenses</a:t>
            </a:r>
            <a:r>
              <a:rPr lang="fr-FR" b="1" dirty="0"/>
              <a:t> </a:t>
            </a:r>
            <a:r>
              <a:rPr lang="fr-FR" b="1" dirty="0" err="1"/>
              <a:t>exceed</a:t>
            </a:r>
            <a:r>
              <a:rPr lang="fr-FR" b="1" dirty="0"/>
              <a:t> revenues for the </a:t>
            </a:r>
            <a:r>
              <a:rPr lang="fr-FR" b="1" dirty="0" err="1"/>
              <a:t>period</a:t>
            </a:r>
            <a:r>
              <a:rPr lang="fr-FR" b="1" dirty="0"/>
              <a:t> 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687388" y="318135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True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687388" y="3733800"/>
            <a:ext cx="7883525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fr-FR" b="1"/>
              <a:t>False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/>
          </a:p>
        </p:txBody>
      </p:sp>
    </p:spTree>
    <p:extLst>
      <p:ext uri="{BB962C8B-B14F-4D97-AF65-F5344CB8AC3E}">
        <p14:creationId xmlns:p14="http://schemas.microsoft.com/office/powerpoint/2010/main" val="126450150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14</a:t>
            </a:r>
          </a:p>
        </p:txBody>
      </p:sp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534988" y="1727200"/>
            <a:ext cx="81454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Financial Statements are reports on the financial performance of organizations. They provide data on: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A) Projections for the upcoming fiscal year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B) Where money comes from, what money is spent on and how much money is available for use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C) Comparative company data to companies in similar industries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D) All of the above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b="1" dirty="0"/>
              <a:t>E) None of the above	</a:t>
            </a:r>
            <a:r>
              <a:rPr lang="fr-F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6895360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15</a:t>
            </a:r>
          </a:p>
        </p:txBody>
      </p:sp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1507" name="Rectangle 4"/>
          <p:cNvSpPr>
            <a:spLocks noChangeArrowheads="1"/>
          </p:cNvSpPr>
          <p:nvPr/>
        </p:nvSpPr>
        <p:spPr bwMode="auto">
          <a:xfrm>
            <a:off x="300038" y="18542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primary function of the Income Statement is to: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Show the company's value as of a given point in time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Determine if the company will have enough cash to operate properly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Determine taxes owed or not owed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Compare the company's assets against the company's liabilities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Measure the company's financial performance over a period of time</a:t>
            </a:r>
            <a:r>
              <a:rPr lang="en-US" b="1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fr-F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526842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  <a:cs typeface="ＭＳ Ｐゴシック" charset="0"/>
              </a:rPr>
              <a:t>Question 16</a:t>
            </a:r>
          </a:p>
        </p:txBody>
      </p:sp>
      <p:sp>
        <p:nvSpPr>
          <p:cNvPr id="2253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460376" y="20955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primary function of the Balance Sheet is to: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Measure the company's performance over a period of time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Make sure that the company's assets and the company's liabilities "balance</a:t>
            </a:r>
            <a:r>
              <a:rPr lang="ja-JP" altLang="en-US" sz="2000" b="1" dirty="0"/>
              <a:t>”</a:t>
            </a:r>
            <a:endParaRPr lang="en-US" altLang="ja-JP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Determine taxes owed or not owed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Show the company's value as of a given point in time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Determine if the company will have enough cash to operate properly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61069374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17</a:t>
            </a:r>
          </a:p>
        </p:txBody>
      </p:sp>
      <p:sp>
        <p:nvSpPr>
          <p:cNvPr id="2457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300038" y="19939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of the following lists are all Assets found in the Balance Sheet: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Cash, accounts receivable, marketable securities, inventory, prepaid expenses and common stock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Cash, accounts receivable, marketable securities, inventory and prepaid expenses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Cash, accounts receivable, inventory and Operating Margin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Cash, accounts receivable, inventory, prepaid expenses and revenue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Cash, accounts receivable, inventory, marketable securities and revenue</a:t>
            </a:r>
            <a:r>
              <a:rPr lang="en-US" sz="2000" dirty="0"/>
              <a:t>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3329275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18</a:t>
            </a:r>
          </a:p>
        </p:txBody>
      </p:sp>
      <p:sp>
        <p:nvSpPr>
          <p:cNvPr id="25602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534988" y="15240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The Balance Sheet equation is: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Assets divided by Equity = Liabilities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Assets plus Liabilities = Equity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Assets = Liabilities plus Equity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Equity = Profit minus </a:t>
            </a:r>
            <a:r>
              <a:rPr lang="en-US" sz="2000" b="1" dirty="0" err="1"/>
              <a:t>TaxesLiabilities</a:t>
            </a:r>
            <a:r>
              <a:rPr lang="en-US" sz="2000" b="1" dirty="0"/>
              <a:t> = Assets plus Equity	</a:t>
            </a:r>
          </a:p>
        </p:txBody>
      </p:sp>
    </p:spTree>
    <p:extLst>
      <p:ext uri="{BB962C8B-B14F-4D97-AF65-F5344CB8AC3E}">
        <p14:creationId xmlns:p14="http://schemas.microsoft.com/office/powerpoint/2010/main" val="353606671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19</a:t>
            </a:r>
          </a:p>
        </p:txBody>
      </p:sp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446088" y="17018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Which one of the following lists are the Current Liabilities of a company: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A) Accounts Payable, Notes Payable, Accrued Expenses AND Income Taxes Payable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B) Accounts Payable, Notes Payable, Accrued Expenses AND Prepaid Expenses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C) Accounts Payable, Notes Payable, Accrued Expenses BUT NOT Income Taxes Payable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D) Accounts Payable, Notes Payable, Income Taxes Payable BUT NOT Accrued Expenses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sz="2000" b="1" dirty="0"/>
              <a:t>E) Accounts Payable, Notes Payable AND Prepaid Expenses	</a:t>
            </a:r>
          </a:p>
        </p:txBody>
      </p:sp>
    </p:spTree>
    <p:extLst>
      <p:ext uri="{BB962C8B-B14F-4D97-AF65-F5344CB8AC3E}">
        <p14:creationId xmlns:p14="http://schemas.microsoft.com/office/powerpoint/2010/main" val="19673016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20</a:t>
            </a:r>
          </a:p>
        </p:txBody>
      </p:sp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534988" y="17653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Which is correct about Preferred Stock: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 A) It is reserved only for preferred customers or investors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B) It is always worth more than common stock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C) It always costs more than common stock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D) It has priority over common stock in the event of the dissolution of the company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E) It cannot be owned by full time employees of the company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sz="2000" b="1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5690335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21</a:t>
            </a:r>
          </a:p>
        </p:txBody>
      </p:sp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300038" y="19431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Which one of the below is the MAJOR responsibility of a businessperson: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A) Making as little income as possible that is taxable in order to minimize the government's cut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B) Making as much money as possible for the employees to share in salary, bonus and benefits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C) Making sure the company is legally compliant with all reporting and other regulatory requirements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D) Making as much money as possible to distribute in dividends to stockholders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E) Making the value of the company increase by generating increasing revenues and profits	</a:t>
            </a:r>
          </a:p>
        </p:txBody>
      </p:sp>
    </p:spTree>
    <p:extLst>
      <p:ext uri="{BB962C8B-B14F-4D97-AF65-F5344CB8AC3E}">
        <p14:creationId xmlns:p14="http://schemas.microsoft.com/office/powerpoint/2010/main" val="330390941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534988" y="457200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Question 22</a:t>
            </a:r>
          </a:p>
        </p:txBody>
      </p:sp>
      <p:sp>
        <p:nvSpPr>
          <p:cNvPr id="29698" name="Rectangle 3"/>
          <p:cNvSpPr>
            <a:spLocks noChangeArrowheads="1"/>
          </p:cNvSpPr>
          <p:nvPr/>
        </p:nvSpPr>
        <p:spPr bwMode="auto">
          <a:xfrm>
            <a:off x="2016125" y="876300"/>
            <a:ext cx="81454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/>
          <a:lstStyle/>
          <a:p>
            <a:pPr algn="l" defTabSz="814388" eaLnBrk="1" hangingPunct="1">
              <a:spcBef>
                <a:spcPct val="50000"/>
              </a:spcBef>
              <a:buClr>
                <a:schemeClr val="tx2"/>
              </a:buClr>
              <a:buFont typeface="Wingdings" charset="0"/>
              <a:buChar char="§"/>
            </a:pPr>
            <a:endParaRPr lang="en-US" sz="2000" b="1"/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534988" y="1625600"/>
            <a:ext cx="83804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None/>
            </a:pPr>
            <a:endParaRPr lang="en-US" sz="2000" b="1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fr-FR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Which is the most relevant statement to an employee regarding the understanding and use of financial statements: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endParaRPr lang="en-US" dirty="0"/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A) They are only really needed by a company's Chief Financial Officer or Controller or Accounting Staff who are paid to understand and use these things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B) They have little to do with the "real life" day to day operations of most departments or sections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C) They can help any employee understand her or his impact on the financial health of the company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D) They are only really used to determine taxes owed or not owed. 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0"/>
              <a:buChar char="§"/>
            </a:pPr>
            <a:r>
              <a:rPr lang="en-US" dirty="0"/>
              <a:t>E) They are only really needed by senior executives, board members and shareholder	</a:t>
            </a:r>
          </a:p>
          <a:p>
            <a:pPr marL="236538" indent="-236538" algn="l" defTabSz="81438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1216389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0436" y="2381144"/>
            <a:ext cx="4249899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Thank you!</a:t>
            </a:r>
          </a:p>
          <a:p>
            <a:pPr algn="ctr"/>
            <a:endParaRPr lang="en-US" sz="3600" b="1" dirty="0">
              <a:solidFill>
                <a:schemeClr val="tx2"/>
              </a:solidFill>
            </a:endParaRPr>
          </a:p>
          <a:p>
            <a:pPr algn="ctr"/>
            <a:r>
              <a:rPr lang="en-US" sz="3600" b="1" dirty="0">
                <a:solidFill>
                  <a:schemeClr val="tx2"/>
                </a:solidFill>
              </a:rPr>
              <a:t>See you next time</a:t>
            </a:r>
          </a:p>
        </p:txBody>
      </p:sp>
    </p:spTree>
    <p:extLst>
      <p:ext uri="{BB962C8B-B14F-4D97-AF65-F5344CB8AC3E}">
        <p14:creationId xmlns:p14="http://schemas.microsoft.com/office/powerpoint/2010/main" val="1493579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531485B0C104F9C58C50E30CD7832" ma:contentTypeVersion="1" ma:contentTypeDescription="Create a new document." ma:contentTypeScope="" ma:versionID="58a86c6f1029ee17be9ef6c312030f40">
  <xsd:schema xmlns:xsd="http://www.w3.org/2001/XMLSchema" xmlns:xs="http://www.w3.org/2001/XMLSchema" xmlns:p="http://schemas.microsoft.com/office/2006/metadata/properties" xmlns:ns2="0ea48c8c-38ab-43fa-892b-dc8a284a5f0d" targetNamespace="http://schemas.microsoft.com/office/2006/metadata/properties" ma:root="true" ma:fieldsID="9673b1d4392e19ee1d50cb9b2057660e" ns2:_="">
    <xsd:import namespace="0ea48c8c-38ab-43fa-892b-dc8a284a5f0d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48c8c-38ab-43fa-892b-dc8a284a5f0d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0ea48c8c-38ab-43fa-892b-dc8a284a5f0d" xsi:nil="true"/>
  </documentManagement>
</p:properties>
</file>

<file path=customXml/itemProps1.xml><?xml version="1.0" encoding="utf-8"?>
<ds:datastoreItem xmlns:ds="http://schemas.openxmlformats.org/officeDocument/2006/customXml" ds:itemID="{CDC7BCBD-30BE-4396-9DAF-C34B276DE8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524373-5117-42EE-B0CD-BDC60295FD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a48c8c-38ab-43fa-892b-dc8a284a5f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C70BCA-C510-4D7C-8D32-F113A00AAEF7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0ea48c8c-38ab-43fa-892b-dc8a284a5f0d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Waveform.thmx</Template>
  <TotalTime>3185</TotalTime>
  <Words>1042</Words>
  <Application>Microsoft Macintosh PowerPoint</Application>
  <PresentationFormat>On-screen Show (4:3)</PresentationFormat>
  <Paragraphs>244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Candara</vt:lpstr>
      <vt:lpstr>Symbol</vt:lpstr>
      <vt:lpstr>Wingdings</vt:lpstr>
      <vt:lpstr>Waveform</vt:lpstr>
      <vt:lpstr>Finance for IT managers</vt:lpstr>
      <vt:lpstr>Finance quiz</vt:lpstr>
      <vt:lpstr>Question 1</vt:lpstr>
      <vt:lpstr>Question 2</vt:lpstr>
      <vt:lpstr>Question 3</vt:lpstr>
      <vt:lpstr>Question 4</vt:lpstr>
      <vt:lpstr>Question 5</vt:lpstr>
      <vt:lpstr>Question 6 </vt:lpstr>
      <vt:lpstr>Question 7 </vt:lpstr>
      <vt:lpstr>Question 8 </vt:lpstr>
      <vt:lpstr>Question 9</vt:lpstr>
      <vt:lpstr>Question 10</vt:lpstr>
      <vt:lpstr>Question 11</vt:lpstr>
      <vt:lpstr>Question 12</vt:lpstr>
      <vt:lpstr>Question 13</vt:lpstr>
      <vt:lpstr>Question 14</vt:lpstr>
      <vt:lpstr>Question 15</vt:lpstr>
      <vt:lpstr>Question 16</vt:lpstr>
      <vt:lpstr>Question 17</vt:lpstr>
      <vt:lpstr>Question 18</vt:lpstr>
      <vt:lpstr>Question 19</vt:lpstr>
      <vt:lpstr>Question 20</vt:lpstr>
      <vt:lpstr>Question 21</vt:lpstr>
      <vt:lpstr>Question 22</vt:lpstr>
      <vt:lpstr>PowerPoint Presentation</vt:lpstr>
    </vt:vector>
  </TitlesOfParts>
  <Manager/>
  <Company>Hervé Gallot for EPITA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Masters</dc:title>
  <dc:subject>Finance for IT Managers</dc:subject>
  <dc:creator>Hervé Gallot</dc:creator>
  <cp:keywords/>
  <dc:description/>
  <cp:lastModifiedBy>Arihant Jain</cp:lastModifiedBy>
  <cp:revision>573</cp:revision>
  <cp:lastPrinted>2013-03-07T08:20:19Z</cp:lastPrinted>
  <dcterms:created xsi:type="dcterms:W3CDTF">2013-02-25T11:18:49Z</dcterms:created>
  <dcterms:modified xsi:type="dcterms:W3CDTF">2025-10-26T19:29:10Z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0x010100FD8531485B0C104F9C58C50E30CD7832</vt:lpwstr>
  </property>
</Properties>
</file>