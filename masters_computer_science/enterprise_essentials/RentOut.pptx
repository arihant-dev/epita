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73" r:id="rId2"/>
    <p:sldId id="270" r:id="rId3"/>
    <p:sldId id="268" r:id="rId4"/>
    <p:sldId id="272" r:id="rId5"/>
    <p:sldId id="267" r:id="rId6"/>
    <p:sldId id="277" r:id="rId7"/>
    <p:sldId id="274" r:id="rId8"/>
    <p:sldId id="281" r:id="rId9"/>
    <p:sldId id="282" r:id="rId10"/>
    <p:sldId id="280" r:id="rId11"/>
    <p:sldId id="279" r:id="rId12"/>
    <p:sldId id="278" r:id="rId13"/>
    <p:sldId id="283" r:id="rId14"/>
    <p:sldId id="284" r:id="rId15"/>
    <p:sldId id="285" r:id="rId16"/>
    <p:sldId id="286" r:id="rId17"/>
    <p:sldId id="28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73"/>
            <p14:sldId id="270"/>
            <p14:sldId id="268"/>
            <p14:sldId id="272"/>
            <p14:sldId id="267"/>
            <p14:sldId id="277"/>
            <p14:sldId id="274"/>
            <p14:sldId id="281"/>
            <p14:sldId id="282"/>
            <p14:sldId id="280"/>
            <p14:sldId id="279"/>
            <p14:sldId id="278"/>
            <p14:sldId id="283"/>
            <p14:sldId id="284"/>
            <p14:sldId id="285"/>
            <p14:sldId id="286"/>
            <p14:sldId id="28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EB"/>
    <a:srgbClr val="F8F8F8"/>
    <a:srgbClr val="D24726"/>
    <a:srgbClr val="D2B4A6"/>
    <a:srgbClr val="734F29"/>
    <a:srgbClr val="DD462F"/>
    <a:srgbClr val="AEB785"/>
    <a:srgbClr val="EFD5A2"/>
    <a:srgbClr val="3B3026"/>
    <a:srgbClr val="ECE1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55" autoAdjust="0"/>
    <p:restoredTop sz="94274" autoAdjust="0"/>
  </p:normalViewPr>
  <p:slideViewPr>
    <p:cSldViewPr snapToGrid="0">
      <p:cViewPr varScale="1">
        <p:scale>
          <a:sx n="148" d="100"/>
          <a:sy n="148" d="100"/>
        </p:scale>
        <p:origin x="208" y="4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11/19/25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2370055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2985640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3</a:t>
            </a:fld>
            <a:endParaRPr lang="en-US"/>
          </a:p>
        </p:txBody>
      </p:sp>
    </p:spTree>
    <p:extLst>
      <p:ext uri="{BB962C8B-B14F-4D97-AF65-F5344CB8AC3E}">
        <p14:creationId xmlns:p14="http://schemas.microsoft.com/office/powerpoint/2010/main" val="16172519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3153688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2733414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FR"/>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a:p>
        </p:txBody>
      </p:sp>
    </p:spTree>
    <p:extLst>
      <p:ext uri="{BB962C8B-B14F-4D97-AF65-F5344CB8AC3E}">
        <p14:creationId xmlns:p14="http://schemas.microsoft.com/office/powerpoint/2010/main" val="2640385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FR"/>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2830609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C2869-1615-39AA-ADCE-D3FD18970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BD4E0-6170-973C-4683-7527D076CE35}"/>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AE4BCFD1-9C6C-9D1E-2435-43CEC74F30C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544EFAD6-6833-09A6-5E31-951553F1F44D}"/>
              </a:ext>
            </a:extLst>
          </p:cNvPr>
          <p:cNvSpPr>
            <a:spLocks noGrp="1"/>
          </p:cNvSpPr>
          <p:nvPr>
            <p:ph type="sldNum" sz="quarter" idx="10"/>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3140481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EC76F-3C39-040B-8CC0-4FDC44295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72C4D-1ADA-0DBD-3077-0639FBF54A80}"/>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8235D0EC-BC77-EFA8-DB40-B16E4D96A06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D16782E7-9712-24FA-177A-EAA22182ADCC}"/>
              </a:ext>
            </a:extLst>
          </p:cNvPr>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4061101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12E3-6383-40F3-3D5B-31B4F88E9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248AC-4FF8-181B-018D-43C646FE5DE1}"/>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6E97F6F1-CF71-E861-CAE1-BDE779110D72}"/>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7AB7C57C-4D22-44DD-ED1C-95FE17A1F74D}"/>
              </a:ext>
            </a:extLst>
          </p:cNvPr>
          <p:cNvSpPr>
            <a:spLocks noGrp="1"/>
          </p:cNvSpPr>
          <p:nvPr>
            <p:ph type="sldNum" sz="quarter" idx="10"/>
          </p:nvPr>
        </p:nvSpPr>
        <p:spPr/>
        <p:txBody>
          <a:bodyPr/>
          <a:lstStyle/>
          <a:p>
            <a:fld id="{DF61EA0F-A667-4B49-8422-0062BC55E249}" type="slidenum">
              <a:rPr lang="en-US" smtClean="0"/>
              <a:t>10</a:t>
            </a:fld>
            <a:endParaRPr lang="en-US"/>
          </a:p>
        </p:txBody>
      </p:sp>
    </p:spTree>
    <p:extLst>
      <p:ext uri="{BB962C8B-B14F-4D97-AF65-F5344CB8AC3E}">
        <p14:creationId xmlns:p14="http://schemas.microsoft.com/office/powerpoint/2010/main" val="1440715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A750D-533D-A15E-2DAD-1C2622B84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4E7C7-3A99-C243-4B38-9442121A5CFF}"/>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6E4A4929-8EB7-DE33-9781-334A3559199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97D5C8C4-E4BE-91E6-D968-8237794BB00E}"/>
              </a:ext>
            </a:extLst>
          </p:cNvPr>
          <p:cNvSpPr>
            <a:spLocks noGrp="1"/>
          </p:cNvSpPr>
          <p:nvPr>
            <p:ph type="sldNum" sz="quarter" idx="10"/>
          </p:nvPr>
        </p:nvSpPr>
        <p:spPr/>
        <p:txBody>
          <a:bodyPr/>
          <a:lstStyle/>
          <a:p>
            <a:fld id="{DF61EA0F-A667-4B49-8422-0062BC55E249}" type="slidenum">
              <a:rPr lang="en-US" smtClean="0"/>
              <a:t>11</a:t>
            </a:fld>
            <a:endParaRPr lang="en-US"/>
          </a:p>
        </p:txBody>
      </p:sp>
    </p:spTree>
    <p:extLst>
      <p:ext uri="{BB962C8B-B14F-4D97-AF65-F5344CB8AC3E}">
        <p14:creationId xmlns:p14="http://schemas.microsoft.com/office/powerpoint/2010/main" val="86390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55B9D-67E6-B346-00F7-1F2501C8A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27310-18CF-C96E-2DB8-3EA1643DB615}"/>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A4F8D67B-6597-4066-595B-DB302629D063}"/>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B561F132-6649-BDC9-9678-7140AA55E698}"/>
              </a:ext>
            </a:extLst>
          </p:cNvPr>
          <p:cNvSpPr>
            <a:spLocks noGrp="1"/>
          </p:cNvSpPr>
          <p:nvPr>
            <p:ph type="sldNum" sz="quarter" idx="10"/>
          </p:nvPr>
        </p:nvSpPr>
        <p:spPr/>
        <p:txBody>
          <a:bodyPr/>
          <a:lstStyle/>
          <a:p>
            <a:fld id="{DF61EA0F-A667-4B49-8422-0062BC55E249}" type="slidenum">
              <a:rPr lang="en-US" smtClean="0"/>
              <a:t>12</a:t>
            </a:fld>
            <a:endParaRPr lang="en-US"/>
          </a:p>
        </p:txBody>
      </p:sp>
    </p:spTree>
    <p:extLst>
      <p:ext uri="{BB962C8B-B14F-4D97-AF65-F5344CB8AC3E}">
        <p14:creationId xmlns:p14="http://schemas.microsoft.com/office/powerpoint/2010/main" val="1291515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8FA2-0DA6-549B-5E83-11293C45A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EA216-4C14-39D2-A2D7-E4D042BD7EB8}"/>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33FB0218-A3A0-F892-5E0A-09F6044534CB}"/>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45BE0B99-3DF7-1F29-E92B-A1375967BD54}"/>
              </a:ext>
            </a:extLst>
          </p:cNvPr>
          <p:cNvSpPr>
            <a:spLocks noGrp="1"/>
          </p:cNvSpPr>
          <p:nvPr>
            <p:ph type="sldNum" sz="quarter" idx="10"/>
          </p:nvPr>
        </p:nvSpPr>
        <p:spPr/>
        <p:txBody>
          <a:bodyPr/>
          <a:lstStyle/>
          <a:p>
            <a:fld id="{DF61EA0F-A667-4B49-8422-0062BC55E249}" type="slidenum">
              <a:rPr lang="en-US" smtClean="0"/>
              <a:t>13</a:t>
            </a:fld>
            <a:endParaRPr lang="en-US"/>
          </a:p>
        </p:txBody>
      </p:sp>
    </p:spTree>
    <p:extLst>
      <p:ext uri="{BB962C8B-B14F-4D97-AF65-F5344CB8AC3E}">
        <p14:creationId xmlns:p14="http://schemas.microsoft.com/office/powerpoint/2010/main" val="9827926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98CB9-1A84-BEC3-C461-D0CB5EA03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597EC-BFB1-F478-179D-4040ED587393}"/>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C2E33CD4-C51C-480F-17DC-0F89B2A6D01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95C977CB-EDAB-1833-5FA0-95BC92B36066}"/>
              </a:ext>
            </a:extLst>
          </p:cNvPr>
          <p:cNvSpPr>
            <a:spLocks noGrp="1"/>
          </p:cNvSpPr>
          <p:nvPr>
            <p:ph type="sldNum" sz="quarter" idx="10"/>
          </p:nvPr>
        </p:nvSpPr>
        <p:spPr/>
        <p:txBody>
          <a:bodyPr/>
          <a:lstStyle/>
          <a:p>
            <a:fld id="{DF61EA0F-A667-4B49-8422-0062BC55E249}" type="slidenum">
              <a:rPr lang="en-US" smtClean="0"/>
              <a:t>14</a:t>
            </a:fld>
            <a:endParaRPr lang="en-US"/>
          </a:p>
        </p:txBody>
      </p:sp>
    </p:spTree>
    <p:extLst>
      <p:ext uri="{BB962C8B-B14F-4D97-AF65-F5344CB8AC3E}">
        <p14:creationId xmlns:p14="http://schemas.microsoft.com/office/powerpoint/2010/main" val="2619393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CD4DD-7216-5031-4A90-6A96F03CF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BB3FA-F81C-D40C-168E-94619019CD6A}"/>
              </a:ext>
            </a:extLst>
          </p:cNvPr>
          <p:cNvSpPr>
            <a:spLocks noGrp="1" noRot="1" noChangeAspect="1"/>
          </p:cNvSpPr>
          <p:nvPr>
            <p:ph type="sldImg"/>
          </p:nvPr>
        </p:nvSpPr>
        <p:spPr>
          <a:xfrm>
            <a:off x="685800" y="1143000"/>
            <a:ext cx="5486400" cy="3086100"/>
          </a:xfrm>
        </p:spPr>
        <p:txBody>
          <a:bodyPr/>
          <a:lstStyle/>
          <a:p>
            <a:endParaRPr lang="en-FR"/>
          </a:p>
        </p:txBody>
      </p:sp>
      <p:sp>
        <p:nvSpPr>
          <p:cNvPr id="3" name="Notes Placeholder 2">
            <a:extLst>
              <a:ext uri="{FF2B5EF4-FFF2-40B4-BE49-F238E27FC236}">
                <a16:creationId xmlns:a16="http://schemas.microsoft.com/office/drawing/2014/main" id="{ACEE5471-6D51-92CA-46C1-0A429FD0837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In Slide Show mode, select the arrows to visit links</a:t>
            </a:r>
            <a:r>
              <a:rPr lang="en-US" baseline="0" dirty="0"/>
              <a:t>.</a:t>
            </a:r>
            <a:endParaRPr lang="en-US" dirty="0"/>
          </a:p>
        </p:txBody>
      </p:sp>
      <p:sp>
        <p:nvSpPr>
          <p:cNvPr id="4" name="Slide Number Placeholder 3">
            <a:extLst>
              <a:ext uri="{FF2B5EF4-FFF2-40B4-BE49-F238E27FC236}">
                <a16:creationId xmlns:a16="http://schemas.microsoft.com/office/drawing/2014/main" id="{48D63FC6-E6BD-2216-3495-93BFD3BD848C}"/>
              </a:ext>
            </a:extLst>
          </p:cNvPr>
          <p:cNvSpPr>
            <a:spLocks noGrp="1"/>
          </p:cNvSpPr>
          <p:nvPr>
            <p:ph type="sldNum" sz="quarter" idx="10"/>
          </p:nvPr>
        </p:nvSpPr>
        <p:spPr/>
        <p:txBody>
          <a:bodyPr/>
          <a:lstStyle/>
          <a:p>
            <a:fld id="{DF61EA0F-A667-4B49-8422-0062BC55E249}" type="slidenum">
              <a:rPr lang="en-US" smtClean="0"/>
              <a:t>15</a:t>
            </a:fld>
            <a:endParaRPr lang="en-US"/>
          </a:p>
        </p:txBody>
      </p:sp>
    </p:spTree>
    <p:extLst>
      <p:ext uri="{BB962C8B-B14F-4D97-AF65-F5344CB8AC3E}">
        <p14:creationId xmlns:p14="http://schemas.microsoft.com/office/powerpoint/2010/main" val="2519483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p:cNvSpPr/>
          <p:nvPr/>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482807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GB"/>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lIns="0" tIns="0" rIns="0" bIns="0">
            <a:normAutofit/>
          </a:bodyPr>
          <a:lstStyle>
            <a:lvl1pPr marL="0" indent="0">
              <a:lnSpc>
                <a:spcPct val="130000"/>
              </a:lnSpc>
              <a:spcBef>
                <a:spcPts val="500"/>
              </a:spcBef>
              <a:spcAft>
                <a:spcPts val="1000"/>
              </a:spcAft>
              <a:buNone/>
              <a:defRPr sz="1600" baseline="0">
                <a:solidFill>
                  <a:schemeClr val="tx1">
                    <a:lumMod val="65000"/>
                    <a:lumOff val="35000"/>
                  </a:schemeClr>
                </a:solidFill>
              </a:defRPr>
            </a:lvl1pPr>
            <a:lvl2pPr>
              <a:lnSpc>
                <a:spcPct val="130000"/>
              </a:lnSpc>
              <a:spcBef>
                <a:spcPts val="500"/>
              </a:spcBef>
              <a:spcAft>
                <a:spcPts val="1000"/>
              </a:spcAft>
              <a:defRPr sz="1400" baseline="0">
                <a:solidFill>
                  <a:schemeClr val="tx1">
                    <a:lumMod val="65000"/>
                    <a:lumOff val="35000"/>
                  </a:schemeClr>
                </a:solidFill>
              </a:defRPr>
            </a:lvl2pPr>
            <a:lvl3pPr>
              <a:lnSpc>
                <a:spcPct val="130000"/>
              </a:lnSpc>
              <a:spcAft>
                <a:spcPts val="1000"/>
              </a:spcAft>
              <a:defRPr sz="1200" baseline="0">
                <a:solidFill>
                  <a:schemeClr val="tx1">
                    <a:lumMod val="65000"/>
                    <a:lumOff val="35000"/>
                  </a:schemeClr>
                </a:solidFill>
              </a:defRPr>
            </a:lvl3pPr>
            <a:lvl4pPr>
              <a:lnSpc>
                <a:spcPct val="130000"/>
              </a:lnSpc>
              <a:spcAft>
                <a:spcPts val="1000"/>
              </a:spcAft>
              <a:defRPr sz="1100" baseline="0">
                <a:solidFill>
                  <a:schemeClr val="tx1">
                    <a:lumMod val="65000"/>
                    <a:lumOff val="35000"/>
                  </a:schemeClr>
                </a:solidFill>
              </a:defRPr>
            </a:lvl4pPr>
            <a:lvl5pPr>
              <a:lnSpc>
                <a:spcPct val="130000"/>
              </a:lnSpc>
              <a:spcAft>
                <a:spcPts val="1000"/>
              </a:spcAft>
              <a:defRPr sz="1100" baseline="0">
                <a:solidFill>
                  <a:schemeClr val="tx1">
                    <a:lumMod val="65000"/>
                    <a:lumOff val="3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baseline="0">
                <a:solidFill>
                  <a:schemeClr val="tx1">
                    <a:lumMod val="65000"/>
                    <a:lumOff val="35000"/>
                  </a:schemeClr>
                </a:solidFill>
              </a:defRPr>
            </a:lvl1pPr>
          </a:lstStyle>
          <a:p>
            <a:fld id="{8BEEBAAA-29B5-4AF5-BC5F-7E580C29002D}" type="datetimeFigureOut">
              <a:rPr lang="en-US" smtClean="0"/>
              <a:pPr/>
              <a:t>11/19/25</a:t>
            </a:fld>
            <a:endParaRPr lang="en-US"/>
          </a:p>
        </p:txBody>
      </p:sp>
      <p:sp>
        <p:nvSpPr>
          <p:cNvPr id="5" name="Footer Placeholder 4"/>
          <p:cNvSpPr>
            <a:spLocks noGrp="1"/>
          </p:cNvSpPr>
          <p:nvPr>
            <p:ph type="ftr" sz="quarter" idx="11"/>
          </p:nvPr>
        </p:nvSpPr>
        <p:spPr/>
        <p:txBody>
          <a:bodyPr/>
          <a:lstStyle>
            <a:lvl1pPr>
              <a:defRPr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65000"/>
                    <a:lumOff val="35000"/>
                  </a:schemeClr>
                </a:solidFill>
              </a:defRPr>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16711" y="876724"/>
            <a:ext cx="10515600" cy="1325563"/>
          </a:xfrm>
        </p:spPr>
        <p:txBody>
          <a:bodyPr vert="horz" lIns="91440" tIns="45720" rIns="91440" bIns="45720" rtlCol="0" anchor="b">
            <a:normAutofit/>
          </a:bodyPr>
          <a:lstStyle>
            <a:lvl1pPr>
              <a:defRPr lang="en-US" sz="3600" b="0" dirty="0">
                <a:solidFill>
                  <a:schemeClr val="bg1"/>
                </a:solidFill>
                <a:latin typeface="Arial" panose="020B0604020202020204" pitchFamily="34" charset="0"/>
                <a:ea typeface="+mn-ea"/>
                <a:cs typeface="Arial" panose="020B0604020202020204" pitchFamily="34" charset="0"/>
              </a:defRPr>
            </a:lvl1pPr>
          </a:lstStyle>
          <a:p>
            <a:pPr marL="0" lvl="0" indent="0">
              <a:lnSpc>
                <a:spcPct val="90000"/>
              </a:lnSpc>
              <a:spcBef>
                <a:spcPct val="30000"/>
              </a:spcBef>
              <a:buFont typeface="Arial" panose="020B0604020202020204" pitchFamily="34" charset="0"/>
            </a:pPr>
            <a:r>
              <a:rPr lang="en-GB"/>
              <a:t>Click to edit Master title style</a:t>
            </a:r>
            <a:endParaRPr lang="en-US" dirty="0"/>
          </a:p>
        </p:txBody>
      </p:sp>
      <p:sp>
        <p:nvSpPr>
          <p:cNvPr id="13" name="Content Placeholder 3"/>
          <p:cNvSpPr>
            <a:spLocks noGrp="1"/>
          </p:cNvSpPr>
          <p:nvPr>
            <p:ph sz="half" idx="2"/>
          </p:nvPr>
        </p:nvSpPr>
        <p:spPr>
          <a:xfrm>
            <a:off x="541611" y="2560639"/>
            <a:ext cx="9442648" cy="3978275"/>
          </a:xfrm>
        </p:spPr>
        <p:txBody>
          <a:bodyPr vert="horz" lIns="91440" tIns="45720" rIns="91440" bIns="45720" rtlCol="0">
            <a:normAutofit/>
          </a:bodyPr>
          <a:lstStyle>
            <a:lvl1pPr>
              <a:lnSpc>
                <a:spcPts val="1800"/>
              </a:lnSpc>
              <a:spcBef>
                <a:spcPts val="1000"/>
              </a:spcBef>
              <a:spcAft>
                <a:spcPts val="1000"/>
              </a:spcAft>
              <a:defRPr lang="en-US" sz="2400" baseline="0" smtClean="0">
                <a:solidFill>
                  <a:schemeClr val="tx1">
                    <a:lumMod val="65000"/>
                    <a:lumOff val="35000"/>
                  </a:schemeClr>
                </a:solidFill>
                <a:latin typeface="+mj-lt"/>
              </a:defRPr>
            </a:lvl1pPr>
            <a:lvl2pPr>
              <a:lnSpc>
                <a:spcPts val="1800"/>
              </a:lnSpc>
              <a:spcBef>
                <a:spcPts val="1000"/>
              </a:spcBef>
              <a:spcAft>
                <a:spcPts val="1000"/>
              </a:spcAft>
              <a:defRPr lang="en-US" sz="1200" smtClean="0">
                <a:solidFill>
                  <a:schemeClr val="tx1">
                    <a:lumMod val="75000"/>
                    <a:lumOff val="25000"/>
                  </a:schemeClr>
                </a:solidFill>
              </a:defRPr>
            </a:lvl2pPr>
            <a:lvl3pPr>
              <a:lnSpc>
                <a:spcPts val="1800"/>
              </a:lnSpc>
              <a:spcBef>
                <a:spcPts val="1000"/>
              </a:spcBef>
              <a:spcAft>
                <a:spcPts val="1000"/>
              </a:spcAft>
              <a:defRPr lang="en-US" sz="1200" smtClean="0">
                <a:solidFill>
                  <a:schemeClr val="tx1">
                    <a:lumMod val="75000"/>
                    <a:lumOff val="25000"/>
                  </a:schemeClr>
                </a:solidFill>
              </a:defRPr>
            </a:lvl3pPr>
            <a:lvl4pPr>
              <a:lnSpc>
                <a:spcPts val="1800"/>
              </a:lnSpc>
              <a:spcBef>
                <a:spcPts val="1000"/>
              </a:spcBef>
              <a:spcAft>
                <a:spcPts val="1000"/>
              </a:spcAft>
              <a:defRPr lang="en-US" sz="1200" smtClean="0">
                <a:solidFill>
                  <a:schemeClr val="tx1">
                    <a:lumMod val="75000"/>
                    <a:lumOff val="25000"/>
                  </a:schemeClr>
                </a:solidFill>
              </a:defRPr>
            </a:lvl4pPr>
            <a:lvl5pPr>
              <a:lnSpc>
                <a:spcPts val="1800"/>
              </a:lnSpc>
              <a:spcBef>
                <a:spcPts val="1000"/>
              </a:spcBef>
              <a:spcAft>
                <a:spcPts val="1000"/>
              </a:spcAft>
              <a:defRPr lang="en-US" sz="1200">
                <a:solidFill>
                  <a:schemeClr val="tx1">
                    <a:lumMod val="75000"/>
                    <a:lumOff val="25000"/>
                  </a:schemeClr>
                </a:solidFill>
              </a:defRPr>
            </a:lvl5pPr>
          </a:lstStyle>
          <a:p>
            <a:pPr marL="0" lvl="0" indent="0">
              <a:lnSpc>
                <a:spcPct val="150000"/>
              </a:lnSpc>
              <a:spcAft>
                <a:spcPts val="1200"/>
              </a:spcAft>
              <a:buNone/>
            </a:pPr>
            <a:r>
              <a:rPr lang="en-GB"/>
              <a:t>Click to edit Master text styles</a:t>
            </a:r>
          </a:p>
        </p:txBody>
      </p:sp>
    </p:spTree>
    <p:extLst>
      <p:ext uri="{BB962C8B-B14F-4D97-AF65-F5344CB8AC3E}">
        <p14:creationId xmlns:p14="http://schemas.microsoft.com/office/powerpoint/2010/main" val="32071299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11/19/25</a:t>
            </a:fld>
            <a:endParaRPr lang="en-US" dirty="0"/>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73" r:id="rId1"/>
    <p:sldLayoutId id="2147483662" r:id="rId2"/>
    <p:sldLayoutId id="2147483674" r:id="rId3"/>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airbnb.com/resources/hosting-homes/a/how-much-does-airbnb-charge-hosts-28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frenchfutureacademy.com/design-thinking-agile/"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T-shaped_skill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261668" y="1198707"/>
            <a:ext cx="11668664" cy="2354983"/>
          </a:xfrm>
        </p:spPr>
        <p:txBody>
          <a:bodyPr>
            <a:normAutofit/>
          </a:bodyPr>
          <a:lstStyle/>
          <a:p>
            <a:pPr algn="ctr"/>
            <a:r>
              <a:rPr lang="en-US" sz="4600" dirty="0">
                <a:solidFill>
                  <a:schemeClr val="bg1"/>
                </a:solidFill>
                <a:latin typeface="Arial" panose="020B0604020202020204" pitchFamily="34" charset="0"/>
                <a:cs typeface="Arial" panose="020B0604020202020204" pitchFamily="34" charset="0"/>
              </a:rPr>
              <a:t>RentOut</a:t>
            </a:r>
          </a:p>
        </p:txBody>
      </p:sp>
      <p:sp>
        <p:nvSpPr>
          <p:cNvPr id="3" name="Subtitle 2"/>
          <p:cNvSpPr>
            <a:spLocks noGrp="1"/>
          </p:cNvSpPr>
          <p:nvPr>
            <p:ph type="subTitle" idx="4294967295"/>
          </p:nvPr>
        </p:nvSpPr>
        <p:spPr>
          <a:xfrm>
            <a:off x="241540" y="2967487"/>
            <a:ext cx="11688792" cy="1099474"/>
          </a:xfrm>
        </p:spPr>
        <p:txBody>
          <a:bodyPr>
            <a:normAutofit/>
          </a:bodyPr>
          <a:lstStyle/>
          <a:p>
            <a:pPr marL="0" indent="0" algn="ctr">
              <a:buNone/>
            </a:pPr>
            <a:r>
              <a:rPr lang="en-US" sz="2400" dirty="0">
                <a:solidFill>
                  <a:schemeClr val="bg1"/>
                </a:solidFill>
                <a:latin typeface="Arial" panose="020B0604020202020204" pitchFamily="34" charset="0"/>
                <a:cs typeface="Arial" panose="020B0604020202020204" pitchFamily="34" charset="0"/>
              </a:rPr>
              <a:t>The Future of Co-Hosting</a:t>
            </a:r>
          </a:p>
        </p:txBody>
      </p:sp>
      <p:sp>
        <p:nvSpPr>
          <p:cNvPr id="5" name="TextBox 4">
            <a:extLst>
              <a:ext uri="{FF2B5EF4-FFF2-40B4-BE49-F238E27FC236}">
                <a16:creationId xmlns:a16="http://schemas.microsoft.com/office/drawing/2014/main" id="{9FF4F7C6-4A95-673D-DC93-E3E4E70284DB}"/>
              </a:ext>
            </a:extLst>
          </p:cNvPr>
          <p:cNvSpPr txBox="1"/>
          <p:nvPr/>
        </p:nvSpPr>
        <p:spPr>
          <a:xfrm>
            <a:off x="9238890" y="5835741"/>
            <a:ext cx="2569999" cy="369332"/>
          </a:xfrm>
          <a:prstGeom prst="rect">
            <a:avLst/>
          </a:prstGeom>
          <a:noFill/>
        </p:spPr>
        <p:txBody>
          <a:bodyPr wrap="none" rtlCol="0">
            <a:spAutoFit/>
          </a:bodyPr>
          <a:lstStyle/>
          <a:p>
            <a:r>
              <a:rPr lang="en-FR" dirty="0"/>
              <a:t>Made By :- Arihant Jain</a:t>
            </a:r>
          </a:p>
        </p:txBody>
      </p:sp>
      <p:sp>
        <p:nvSpPr>
          <p:cNvPr id="6" name="TextBox 5">
            <a:extLst>
              <a:ext uri="{FF2B5EF4-FFF2-40B4-BE49-F238E27FC236}">
                <a16:creationId xmlns:a16="http://schemas.microsoft.com/office/drawing/2014/main" id="{2352C86A-BD3A-6898-F884-1B7E2E6B7168}"/>
              </a:ext>
            </a:extLst>
          </p:cNvPr>
          <p:cNvSpPr txBox="1"/>
          <p:nvPr/>
        </p:nvSpPr>
        <p:spPr>
          <a:xfrm>
            <a:off x="7661600" y="6216380"/>
            <a:ext cx="4147289" cy="369332"/>
          </a:xfrm>
          <a:prstGeom prst="rect">
            <a:avLst/>
          </a:prstGeom>
          <a:noFill/>
        </p:spPr>
        <p:txBody>
          <a:bodyPr wrap="none" rtlCol="0">
            <a:spAutoFit/>
          </a:bodyPr>
          <a:lstStyle/>
          <a:p>
            <a:r>
              <a:rPr lang="en-FR" dirty="0"/>
              <a:t>MSc – Computer Science – Fall - 2025</a:t>
            </a:r>
          </a:p>
        </p:txBody>
      </p:sp>
    </p:spTree>
    <p:extLst>
      <p:ext uri="{BB962C8B-B14F-4D97-AF65-F5344CB8AC3E}">
        <p14:creationId xmlns:p14="http://schemas.microsoft.com/office/powerpoint/2010/main" val="1615315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latin typeface="Arial" panose="020B0604020202020204" pitchFamily="34" charset="0"/>
                <a:cs typeface="Arial" panose="020B0604020202020204" pitchFamily="34" charset="0"/>
              </a:rPr>
              <a:t>How can we help families to control their rentals?</a:t>
            </a:r>
          </a:p>
        </p:txBody>
      </p:sp>
      <p:sp>
        <p:nvSpPr>
          <p:cNvPr id="3" name="Content Placeholder 2"/>
          <p:cNvSpPr>
            <a:spLocks noGrp="1"/>
          </p:cNvSpPr>
          <p:nvPr>
            <p:ph idx="1"/>
          </p:nvPr>
        </p:nvSpPr>
        <p:spPr>
          <a:xfrm>
            <a:off x="576233" y="1747805"/>
            <a:ext cx="10805931" cy="476704"/>
          </a:xfrm>
        </p:spPr>
        <p:txBody>
          <a:bodyPr vert="horz" lIns="91440" tIns="45720" rIns="91440" bIns="45720" rtlCol="0">
            <a:noAutofit/>
          </a:bodyPr>
          <a:lstStyle/>
          <a:p>
            <a:pPr marL="0" indent="0">
              <a:lnSpc>
                <a:spcPct val="150000"/>
              </a:lnSpc>
              <a:spcAft>
                <a:spcPts val="1200"/>
              </a:spcAft>
              <a:buNone/>
            </a:pPr>
            <a:r>
              <a:rPr lang="en-US" sz="1600" b="1" dirty="0">
                <a:solidFill>
                  <a:schemeClr val="tx1">
                    <a:lumMod val="65000"/>
                    <a:lumOff val="35000"/>
                  </a:schemeClr>
                </a:solidFill>
                <a:latin typeface="Arial" panose="020B0604020202020204" pitchFamily="34" charset="0"/>
                <a:cs typeface="Arial" panose="020B0604020202020204" pitchFamily="34" charset="0"/>
              </a:rPr>
              <a:t>Motivation</a:t>
            </a:r>
          </a:p>
          <a:p>
            <a:pPr marL="285750" indent="-285750">
              <a:lnSpc>
                <a:spcPct val="150000"/>
              </a:lnSpc>
              <a:spcAft>
                <a:spcPts val="1200"/>
              </a:spcAft>
              <a:buFont typeface="Arial" panose="020B0604020202020204" pitchFamily="34" charset="0"/>
              <a:buChar char="•"/>
            </a:pPr>
            <a:r>
              <a:rPr lang="en-US" b="1" dirty="0">
                <a:latin typeface="Arial" panose="020B0604020202020204" pitchFamily="34" charset="0"/>
                <a:cs typeface="Arial" panose="020B0604020202020204" pitchFamily="34" charset="0"/>
              </a:rPr>
              <a:t>We want to build something that can help families rent their rentals in an easy way without the unnecessary transaction costs of the middle-man, to help them with stable income.</a:t>
            </a:r>
          </a:p>
          <a:p>
            <a:pPr marL="285750" indent="-285750">
              <a:lnSpc>
                <a:spcPct val="150000"/>
              </a:lnSpc>
              <a:spcAft>
                <a:spcPts val="1200"/>
              </a:spcAft>
              <a:buFont typeface="Arial" panose="020B0604020202020204" pitchFamily="34" charset="0"/>
              <a:buChar char="•"/>
            </a:pPr>
            <a:r>
              <a:rPr lang="en-US" b="1" dirty="0">
                <a:latin typeface="Arial" panose="020B0604020202020204" pitchFamily="34" charset="0"/>
                <a:cs typeface="Arial" panose="020B0604020202020204" pitchFamily="34" charset="0"/>
              </a:rPr>
              <a:t>We leverage the AI systems to eliminate the tasks that can be automated, both at the end of the Host and at the end of the Company.</a:t>
            </a:r>
          </a:p>
          <a:p>
            <a:pPr marL="285750" indent="-285750">
              <a:lnSpc>
                <a:spcPct val="150000"/>
              </a:lnSpc>
              <a:spcAft>
                <a:spcPts val="1200"/>
              </a:spcAft>
              <a:buFont typeface="Arial" panose="020B0604020202020204" pitchFamily="34" charset="0"/>
              <a:buChar char="•"/>
            </a:pPr>
            <a:r>
              <a:rPr lang="en-US" b="1" dirty="0">
                <a:latin typeface="Arial" panose="020B0604020202020204" pitchFamily="34" charset="0"/>
                <a:cs typeface="Arial" panose="020B0604020202020204" pitchFamily="34" charset="0"/>
              </a:rPr>
              <a:t>AirBnB – typically charges around 3% from the price from the Host and around 14 to 16% from the Guest.[</a:t>
            </a:r>
            <a:r>
              <a:rPr lang="en-US" b="1" dirty="0">
                <a:latin typeface="Arial" panose="020B0604020202020204" pitchFamily="34" charset="0"/>
                <a:cs typeface="Arial" panose="020B0604020202020204" pitchFamily="34" charset="0"/>
                <a:hlinkClick r:id="rId3"/>
              </a:rPr>
              <a:t>1</a:t>
            </a:r>
            <a:r>
              <a:rPr lang="en-US" b="1" dirty="0">
                <a:latin typeface="Arial" panose="020B0604020202020204" pitchFamily="34" charset="0"/>
                <a:cs typeface="Arial" panose="020B0604020202020204" pitchFamily="34" charset="0"/>
              </a:rPr>
              <a:t>]</a:t>
            </a:r>
          </a:p>
          <a:p>
            <a:pPr>
              <a:lnSpc>
                <a:spcPct val="150000"/>
              </a:lnSpc>
              <a:spcAft>
                <a:spcPts val="1200"/>
              </a:spcAft>
            </a:pPr>
            <a:r>
              <a:rPr lang="en-US" sz="1200" i="1" dirty="0">
                <a:solidFill>
                  <a:schemeClr val="tx1">
                    <a:lumMod val="65000"/>
                    <a:lumOff val="35000"/>
                  </a:schemeClr>
                </a:solidFill>
                <a:latin typeface="Arial" panose="020B0604020202020204" pitchFamily="34" charset="0"/>
                <a:cs typeface="Arial" panose="020B0604020202020204" pitchFamily="34" charset="0"/>
              </a:rPr>
              <a:t>This </a:t>
            </a:r>
            <a:r>
              <a:rPr lang="en-US" sz="1200" i="1" dirty="0">
                <a:latin typeface="Arial" panose="020B0604020202020204" pitchFamily="34" charset="0"/>
                <a:cs typeface="Arial" panose="020B0604020202020204" pitchFamily="34" charset="0"/>
              </a:rPr>
              <a:t>idea was proposed by my friend Anastasios at a recent Hackathon, where we landed in the Top 10 Teams as the Finalists.</a:t>
            </a:r>
            <a:endParaRPr lang="en-US" sz="1200" i="1" dirty="0">
              <a:solidFill>
                <a:schemeClr val="tx1">
                  <a:lumMod val="65000"/>
                  <a:lumOff val="35000"/>
                </a:schemeClr>
              </a:solidFill>
              <a:latin typeface="Arial" panose="020B0604020202020204" pitchFamily="34" charset="0"/>
              <a:cs typeface="Arial" panose="020B0604020202020204" pitchFamily="34" charset="0"/>
            </a:endParaRPr>
          </a:p>
          <a:p>
            <a:pPr marL="285750" indent="-285750">
              <a:lnSpc>
                <a:spcPct val="150000"/>
              </a:lnSpc>
              <a:spcAft>
                <a:spcPts val="1200"/>
              </a:spcAft>
              <a:buFont typeface="Arial" panose="020B0604020202020204" pitchFamily="34" charset="0"/>
              <a:buChar char="•"/>
            </a:pPr>
            <a:endParaRPr lang="en-US" b="1" dirty="0">
              <a:latin typeface="Arial" panose="020B0604020202020204" pitchFamily="34" charset="0"/>
              <a:cs typeface="Arial" panose="020B0604020202020204" pitchFamily="34" charset="0"/>
            </a:endParaRPr>
          </a:p>
          <a:p>
            <a:pPr>
              <a:lnSpc>
                <a:spcPct val="150000"/>
              </a:lnSpc>
              <a:spcAft>
                <a:spcPts val="1200"/>
              </a:spcAft>
            </a:pPr>
            <a:endParaRPr lang="en-US" sz="16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4" name="Content Placeholder 3"/>
          <p:cNvSpPr txBox="1">
            <a:spLocks/>
          </p:cNvSpPr>
          <p:nvPr/>
        </p:nvSpPr>
        <p:spPr>
          <a:xfrm>
            <a:off x="576233" y="3821376"/>
            <a:ext cx="5606203" cy="2505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1200"/>
              </a:spcAft>
              <a:buNone/>
            </a:pPr>
            <a:endParaRPr lang="en-US" sz="16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452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752" y="0"/>
            <a:ext cx="10749367" cy="1208868"/>
          </a:xfrm>
        </p:spPr>
        <p:txBody>
          <a:bodyPr>
            <a:normAutofit/>
          </a:bodyPr>
          <a:lstStyle/>
          <a:p>
            <a:pPr lvl="0"/>
            <a:r>
              <a:rPr lang="en-GB" dirty="0"/>
              <a:t>Reason of Being (Social Role and Mission)</a:t>
            </a:r>
            <a:endParaRPr lang="en-US" sz="340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649945" y="1802921"/>
            <a:ext cx="7286357" cy="3278303"/>
          </a:xfrm>
        </p:spPr>
        <p:txBody>
          <a:bodyPr>
            <a:normAutofit/>
          </a:bodyPr>
          <a:lstStyle/>
          <a:p>
            <a:r>
              <a:rPr lang="en-US" dirty="0">
                <a:latin typeface="Arial" panose="020B0604020202020204" pitchFamily="34" charset="0"/>
                <a:cs typeface="Arial" panose="020B0604020202020204" pitchFamily="34" charset="0"/>
              </a:rPr>
              <a:t>To democratize short-term Rental Market by providing full autonomous co-hosting to the host-families, enabling them to create an independent and reliable business for themselves.</a:t>
            </a:r>
          </a:p>
          <a:p>
            <a:pPr marL="342900" indent="-342900">
              <a:buFont typeface="+mj-lt"/>
              <a:buAutoNum type="arabicPeriod"/>
            </a:pPr>
            <a:r>
              <a:rPr lang="en-US" dirty="0">
                <a:latin typeface="Arial" panose="020B0604020202020204" pitchFamily="34" charset="0"/>
                <a:cs typeface="Arial" panose="020B0604020202020204" pitchFamily="34" charset="0"/>
              </a:rPr>
              <a:t>Enable Micro-Entrepreneurs.</a:t>
            </a:r>
          </a:p>
          <a:p>
            <a:pPr marL="342900" indent="-342900">
              <a:buFont typeface="+mj-lt"/>
              <a:buAutoNum type="arabicPeriod"/>
            </a:pPr>
            <a:r>
              <a:rPr lang="en-US" dirty="0">
                <a:latin typeface="Arial" panose="020B0604020202020204" pitchFamily="34" charset="0"/>
                <a:cs typeface="Arial" panose="020B0604020202020204" pitchFamily="34" charset="0"/>
              </a:rPr>
              <a:t>Remove Operational overhead(which is the biggest hinderance for small-families).</a:t>
            </a:r>
          </a:p>
        </p:txBody>
      </p:sp>
      <p:sp>
        <p:nvSpPr>
          <p:cNvPr id="11" name="Content Placeholder 7"/>
          <p:cNvSpPr txBox="1">
            <a:spLocks/>
          </p:cNvSpPr>
          <p:nvPr/>
        </p:nvSpPr>
        <p:spPr>
          <a:xfrm>
            <a:off x="649945" y="5259007"/>
            <a:ext cx="10393975" cy="889317"/>
          </a:xfrm>
          <a:prstGeom prst="rect">
            <a:avLst/>
          </a:prstGeom>
        </p:spPr>
        <p:txBody>
          <a:bodyPr vert="horz" lIns="0" tIns="0" rIns="0" bIns="0" rtlCol="0">
            <a:normAutofit/>
          </a:bodyPr>
          <a:lstStyle>
            <a:lvl1pPr marL="0" indent="0" algn="l" defTabSz="914400" rtl="0" eaLnBrk="1" latinLnBrk="0" hangingPunct="1">
              <a:lnSpc>
                <a:spcPct val="130000"/>
              </a:lnSpc>
              <a:spcBef>
                <a:spcPts val="500"/>
              </a:spcBef>
              <a:spcAft>
                <a:spcPts val="1000"/>
              </a:spcAft>
              <a:buFont typeface="Arial" panose="020B0604020202020204" pitchFamily="34" charset="0"/>
              <a:buNone/>
              <a:defRPr sz="1600" kern="1200" baseline="0">
                <a:solidFill>
                  <a:schemeClr val="tx1">
                    <a:lumMod val="65000"/>
                    <a:lumOff val="35000"/>
                  </a:schemeClr>
                </a:solidFill>
                <a:latin typeface="+mn-lt"/>
                <a:ea typeface="+mn-ea"/>
                <a:cs typeface="+mn-cs"/>
              </a:defRPr>
            </a:lvl1pPr>
            <a:lvl2pPr marL="685800" indent="-228600" algn="l" defTabSz="914400" rtl="0" eaLnBrk="1" latinLnBrk="0" hangingPunct="1">
              <a:lnSpc>
                <a:spcPct val="130000"/>
              </a:lnSpc>
              <a:spcBef>
                <a:spcPts val="500"/>
              </a:spcBef>
              <a:spcAft>
                <a:spcPts val="1000"/>
              </a:spcAft>
              <a:buFont typeface="Arial" panose="020B0604020202020204" pitchFamily="34" charset="0"/>
              <a:buChar char="•"/>
              <a:defRPr sz="1400" kern="1200" baseline="0">
                <a:solidFill>
                  <a:schemeClr val="tx1">
                    <a:lumMod val="65000"/>
                    <a:lumOff val="35000"/>
                  </a:schemeClr>
                </a:solidFill>
                <a:latin typeface="+mn-lt"/>
                <a:ea typeface="+mn-ea"/>
                <a:cs typeface="+mn-cs"/>
              </a:defRPr>
            </a:lvl2pPr>
            <a:lvl3pPr marL="1143000" indent="-228600" algn="l" defTabSz="914400" rtl="0" eaLnBrk="1" latinLnBrk="0" hangingPunct="1">
              <a:lnSpc>
                <a:spcPct val="130000"/>
              </a:lnSpc>
              <a:spcBef>
                <a:spcPct val="30000"/>
              </a:spcBef>
              <a:spcAft>
                <a:spcPts val="1000"/>
              </a:spcAft>
              <a:buFont typeface="Arial" panose="020B0604020202020204" pitchFamily="34" charset="0"/>
              <a:buChar char="•"/>
              <a:defRPr sz="1200" kern="1200" baseline="0">
                <a:solidFill>
                  <a:schemeClr val="tx1">
                    <a:lumMod val="65000"/>
                    <a:lumOff val="35000"/>
                  </a:schemeClr>
                </a:solidFill>
                <a:latin typeface="+mn-lt"/>
                <a:ea typeface="+mn-ea"/>
                <a:cs typeface="+mn-cs"/>
              </a:defRPr>
            </a:lvl3pPr>
            <a:lvl4pPr marL="1600200" indent="-228600" algn="l" defTabSz="914400" rtl="0" eaLnBrk="1" latinLnBrk="0" hangingPunct="1">
              <a:lnSpc>
                <a:spcPct val="130000"/>
              </a:lnSpc>
              <a:spcBef>
                <a:spcPct val="30000"/>
              </a:spcBef>
              <a:spcAft>
                <a:spcPts val="1000"/>
              </a:spcAft>
              <a:buFont typeface="Arial" panose="020B0604020202020204" pitchFamily="34" charset="0"/>
              <a:buChar char="•"/>
              <a:defRPr sz="1100" kern="1200" baseline="0">
                <a:solidFill>
                  <a:schemeClr val="tx1">
                    <a:lumMod val="65000"/>
                    <a:lumOff val="35000"/>
                  </a:schemeClr>
                </a:solidFill>
                <a:latin typeface="+mn-lt"/>
                <a:ea typeface="+mn-ea"/>
                <a:cs typeface="+mn-cs"/>
              </a:defRPr>
            </a:lvl4pPr>
            <a:lvl5pPr marL="2057400" indent="-228600" algn="l" defTabSz="914400" rtl="0" eaLnBrk="1" latinLnBrk="0" hangingPunct="1">
              <a:lnSpc>
                <a:spcPct val="130000"/>
              </a:lnSpc>
              <a:spcBef>
                <a:spcPct val="30000"/>
              </a:spcBef>
              <a:spcAft>
                <a:spcPts val="1000"/>
              </a:spcAft>
              <a:buFont typeface="Arial" panose="020B0604020202020204" pitchFamily="34" charset="0"/>
              <a:buChar char="•"/>
              <a:defRPr sz="1100" kern="120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spcBef>
                <a:spcPts val="4100"/>
              </a:spcBef>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7676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752" y="0"/>
            <a:ext cx="10749367" cy="1208868"/>
          </a:xfrm>
        </p:spPr>
        <p:txBody>
          <a:bodyPr>
            <a:normAutofit/>
          </a:bodyPr>
          <a:lstStyle/>
          <a:p>
            <a:pPr lvl="0"/>
            <a:r>
              <a:rPr lang="en-US" sz="3400" dirty="0">
                <a:latin typeface="Arial" panose="020B0604020202020204" pitchFamily="34" charset="0"/>
                <a:cs typeface="Arial" panose="020B0604020202020204" pitchFamily="34" charset="0"/>
              </a:rPr>
              <a:t>Core Competencies</a:t>
            </a:r>
          </a:p>
        </p:txBody>
      </p:sp>
      <p:sp>
        <p:nvSpPr>
          <p:cNvPr id="7" name="Content Placeholder 6"/>
          <p:cNvSpPr>
            <a:spLocks noGrp="1"/>
          </p:cNvSpPr>
          <p:nvPr>
            <p:ph idx="1"/>
          </p:nvPr>
        </p:nvSpPr>
        <p:spPr>
          <a:xfrm>
            <a:off x="667873" y="1731495"/>
            <a:ext cx="8218951" cy="4344839"/>
          </a:xfrm>
        </p:spPr>
        <p:txBody>
          <a:bodyPr>
            <a:noAutofit/>
          </a:bodyPr>
          <a:lstStyle/>
          <a:p>
            <a:r>
              <a:rPr lang="en-US" dirty="0">
                <a:latin typeface="Arial" panose="020B0604020202020204" pitchFamily="34" charset="0"/>
                <a:cs typeface="Arial" panose="020B0604020202020204" pitchFamily="34" charset="0"/>
              </a:rPr>
              <a:t>RentOut’s fundamental strength is to automate tasks that previously required human-intervention.</a:t>
            </a:r>
          </a:p>
          <a:p>
            <a:r>
              <a:rPr lang="en-US" dirty="0">
                <a:latin typeface="Arial" panose="020B0604020202020204" pitchFamily="34" charset="0"/>
                <a:cs typeface="Arial" panose="020B0604020202020204" pitchFamily="34" charset="0"/>
              </a:rPr>
              <a:t>How it works:</a:t>
            </a:r>
          </a:p>
          <a:p>
            <a:pPr marL="342900" lvl="0" indent="-342900">
              <a:buFont typeface="+mj-lt"/>
              <a:buAutoNum type="arabicPeriod"/>
            </a:pPr>
            <a:r>
              <a:rPr lang="en-US" dirty="0">
                <a:latin typeface="Arial" panose="020B0604020202020204" pitchFamily="34" charset="0"/>
                <a:cs typeface="Arial" panose="020B0604020202020204" pitchFamily="34" charset="0"/>
              </a:rPr>
              <a:t>AI and ML Models: To deliver optimized pricing(integrating competitive analysis).</a:t>
            </a:r>
          </a:p>
          <a:p>
            <a:pPr marL="342900" lvl="0" indent="-342900">
              <a:buFont typeface="+mj-lt"/>
              <a:buAutoNum type="arabicPeriod"/>
            </a:pPr>
            <a:r>
              <a:rPr lang="en-US" dirty="0">
                <a:latin typeface="Arial" panose="020B0604020202020204" pitchFamily="34" charset="0"/>
                <a:cs typeface="Arial" panose="020B0604020202020204" pitchFamily="34" charset="0"/>
              </a:rPr>
              <a:t>Autonomous Agents for different workflows(Incident Management, Cleaning/Maintenance, Guest Communications)</a:t>
            </a:r>
          </a:p>
          <a:p>
            <a:pPr marL="342900" indent="-342900">
              <a:buFont typeface="+mj-lt"/>
              <a:buAutoNum type="arabicPeriod"/>
            </a:pPr>
            <a:r>
              <a:rPr lang="en-US" dirty="0">
                <a:latin typeface="Arial" panose="020B0604020202020204" pitchFamily="34" charset="0"/>
                <a:cs typeface="Arial" panose="020B0604020202020204" pitchFamily="34" charset="0"/>
              </a:rPr>
              <a:t>Seamless integration with other Platform’s like </a:t>
            </a:r>
            <a:r>
              <a:rPr lang="en-US" dirty="0" err="1">
                <a:latin typeface="Arial" panose="020B0604020202020204" pitchFamily="34" charset="0"/>
                <a:cs typeface="Arial" panose="020B0604020202020204" pitchFamily="34" charset="0"/>
              </a:rPr>
              <a:t>Whatsapp</a:t>
            </a:r>
            <a:r>
              <a:rPr lang="en-US" dirty="0">
                <a:latin typeface="Arial" panose="020B0604020202020204" pitchFamily="34" charset="0"/>
                <a:cs typeface="Arial" panose="020B0604020202020204" pitchFamily="34" charset="0"/>
              </a:rPr>
              <a:t>, Stripe, etc.</a:t>
            </a:r>
          </a:p>
        </p:txBody>
      </p:sp>
    </p:spTree>
    <p:extLst>
      <p:ext uri="{BB962C8B-B14F-4D97-AF65-F5344CB8AC3E}">
        <p14:creationId xmlns:p14="http://schemas.microsoft.com/office/powerpoint/2010/main" val="3766387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646" y="0"/>
            <a:ext cx="10749367" cy="1208868"/>
          </a:xfrm>
        </p:spPr>
        <p:txBody>
          <a:bodyPr>
            <a:normAutofit/>
          </a:bodyPr>
          <a:lstStyle/>
          <a:p>
            <a:pPr lvl="0"/>
            <a:r>
              <a:rPr lang="en-US" sz="3400" dirty="0">
                <a:latin typeface="Arial" panose="020B0604020202020204" pitchFamily="34" charset="0"/>
                <a:cs typeface="Arial" panose="020B0604020202020204" pitchFamily="34" charset="0"/>
              </a:rPr>
              <a:t>Industry Structure for RentOut</a:t>
            </a:r>
          </a:p>
        </p:txBody>
      </p:sp>
      <p:sp>
        <p:nvSpPr>
          <p:cNvPr id="7" name="Content Placeholder 6"/>
          <p:cNvSpPr>
            <a:spLocks noGrp="1"/>
          </p:cNvSpPr>
          <p:nvPr>
            <p:ph idx="1"/>
          </p:nvPr>
        </p:nvSpPr>
        <p:spPr>
          <a:xfrm>
            <a:off x="838201" y="1825624"/>
            <a:ext cx="7362773" cy="4672285"/>
          </a:xfrm>
        </p:spPr>
        <p:txBody>
          <a:bodyPr>
            <a:normAutofit/>
          </a:bodyPr>
          <a:lstStyle/>
          <a:p>
            <a:pPr marL="342900" indent="-342900">
              <a:buFont typeface="+mj-lt"/>
              <a:buAutoNum type="arabicPeriod"/>
            </a:pPr>
            <a:r>
              <a:rPr lang="en-US" dirty="0">
                <a:latin typeface="Arial" panose="020B0604020202020204" pitchFamily="34" charset="0"/>
                <a:cs typeface="Arial" panose="020B0604020202020204" pitchFamily="34" charset="0"/>
              </a:rPr>
              <a:t>Raw Inputs &amp; Capital Industries</a:t>
            </a:r>
          </a:p>
          <a:p>
            <a:pPr marL="342900" indent="-342900">
              <a:buFont typeface="+mj-lt"/>
              <a:buAutoNum type="arabicPeriod"/>
            </a:pPr>
            <a:r>
              <a:rPr lang="en-US" dirty="0">
                <a:latin typeface="Arial" panose="020B0604020202020204" pitchFamily="34" charset="0"/>
                <a:cs typeface="Arial" panose="020B0604020202020204" pitchFamily="34" charset="0"/>
              </a:rPr>
              <a:t>Hospitality / Rental Industry </a:t>
            </a:r>
            <a:r>
              <a:rPr lang="en-US" dirty="0">
                <a:latin typeface="Arial" panose="020B0604020202020204" pitchFamily="34" charset="0"/>
                <a:cs typeface="Arial" panose="020B0604020202020204" pitchFamily="34" charset="0"/>
                <a:sym typeface="Wingdings" pitchFamily="2" charset="2"/>
              </a:rPr>
              <a:t> Host-Family</a:t>
            </a: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dirty="0">
                <a:latin typeface="Arial" panose="020B0604020202020204" pitchFamily="34" charset="0"/>
                <a:cs typeface="Arial" panose="020B0604020202020204" pitchFamily="34" charset="0"/>
              </a:rPr>
              <a:t>Management Industry </a:t>
            </a:r>
            <a:r>
              <a:rPr lang="en-US" dirty="0">
                <a:latin typeface="Arial" panose="020B0604020202020204" pitchFamily="34" charset="0"/>
                <a:cs typeface="Arial" panose="020B0604020202020204" pitchFamily="34" charset="0"/>
                <a:sym typeface="Wingdings" pitchFamily="2" charset="2"/>
              </a:rPr>
              <a:t> Middle-Man(AirBnB), RentOut</a:t>
            </a: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dirty="0">
                <a:latin typeface="Arial" panose="020B0604020202020204" pitchFamily="34" charset="0"/>
                <a:cs typeface="Arial" panose="020B0604020202020204" pitchFamily="34" charset="0"/>
              </a:rPr>
              <a:t>Local Services Industry </a:t>
            </a:r>
            <a:r>
              <a:rPr lang="en-US" dirty="0">
                <a:latin typeface="Arial" panose="020B0604020202020204" pitchFamily="34" charset="0"/>
                <a:cs typeface="Arial" panose="020B0604020202020204" pitchFamily="34" charset="0"/>
                <a:sym typeface="Wingdings" pitchFamily="2" charset="2"/>
              </a:rPr>
              <a:t> Cleaning and Maintenance</a:t>
            </a:r>
            <a:endParaRPr lang="en-US" dirty="0">
              <a:latin typeface="Arial" panose="020B0604020202020204" pitchFamily="34" charset="0"/>
              <a:cs typeface="Arial" panose="020B0604020202020204" pitchFamily="34" charset="0"/>
            </a:endParaRPr>
          </a:p>
          <a:p>
            <a:pPr marL="342900" indent="-342900">
              <a:buFont typeface="+mj-lt"/>
              <a:buAutoNum type="arabicPeriod"/>
            </a:pPr>
            <a:r>
              <a:rPr lang="en-US" dirty="0">
                <a:latin typeface="Arial" panose="020B0604020202020204" pitchFamily="34" charset="0"/>
                <a:cs typeface="Arial" panose="020B0604020202020204" pitchFamily="34" charset="0"/>
              </a:rPr>
              <a:t>Customer</a:t>
            </a:r>
          </a:p>
        </p:txBody>
      </p:sp>
    </p:spTree>
    <p:extLst>
      <p:ext uri="{BB962C8B-B14F-4D97-AF65-F5344CB8AC3E}">
        <p14:creationId xmlns:p14="http://schemas.microsoft.com/office/powerpoint/2010/main" val="39514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309" y="0"/>
            <a:ext cx="10749367" cy="1208868"/>
          </a:xfrm>
        </p:spPr>
        <p:txBody>
          <a:bodyPr>
            <a:normAutofit/>
          </a:bodyPr>
          <a:lstStyle/>
          <a:p>
            <a:pPr lvl="0"/>
            <a:r>
              <a:rPr lang="en-US" sz="3400" dirty="0">
                <a:latin typeface="Arial" panose="020B0604020202020204" pitchFamily="34" charset="0"/>
                <a:cs typeface="Arial" panose="020B0604020202020204" pitchFamily="34" charset="0"/>
              </a:rPr>
              <a:t>Business Model</a:t>
            </a:r>
          </a:p>
        </p:txBody>
      </p:sp>
      <p:sp>
        <p:nvSpPr>
          <p:cNvPr id="7" name="Content Placeholder 6"/>
          <p:cNvSpPr>
            <a:spLocks noGrp="1"/>
          </p:cNvSpPr>
          <p:nvPr>
            <p:ph idx="1"/>
          </p:nvPr>
        </p:nvSpPr>
        <p:spPr>
          <a:xfrm>
            <a:off x="624443" y="1630838"/>
            <a:ext cx="7359497" cy="4940754"/>
          </a:xfrm>
        </p:spPr>
        <p:txBody>
          <a:bodyPr>
            <a:normAutofit/>
          </a:bodyPr>
          <a:lstStyle/>
          <a:p>
            <a:r>
              <a:rPr lang="en-US" dirty="0">
                <a:latin typeface="Arial" panose="020B0604020202020204" pitchFamily="34" charset="0"/>
                <a:cs typeface="Arial" panose="020B0604020202020204" pitchFamily="34" charset="0"/>
              </a:rPr>
              <a:t>RentOut’s model is designed for maximum scalability with minimum Host or Human Intervention.</a:t>
            </a:r>
          </a:p>
          <a:p>
            <a:r>
              <a:rPr lang="en-US" b="1" u="sng" dirty="0">
                <a:latin typeface="Arial" panose="020B0604020202020204" pitchFamily="34" charset="0"/>
                <a:cs typeface="Arial" panose="020B0604020202020204" pitchFamily="34" charset="0"/>
              </a:rPr>
              <a:t>Model Type and Revenue Streams</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Model Type</a:t>
            </a:r>
            <a:r>
              <a:rPr lang="en-US" dirty="0">
                <a:latin typeface="Arial" panose="020B0604020202020204" pitchFamily="34" charset="0"/>
                <a:cs typeface="Arial" panose="020B0604020202020204" pitchFamily="34" charset="0"/>
              </a:rPr>
              <a:t> : Commission Model  </a:t>
            </a:r>
          </a:p>
          <a:p>
            <a:pPr marL="285750" indent="-285750">
              <a:buFont typeface="Arial" panose="020B0604020202020204" pitchFamily="34" charset="0"/>
              <a:buChar char="•"/>
            </a:pPr>
            <a:r>
              <a:rPr lang="en-US" b="1" dirty="0"/>
              <a:t>Revenue Streams </a:t>
            </a:r>
            <a:r>
              <a:rPr lang="en-US" dirty="0"/>
              <a:t>: 5% of the Host’s Gross Booking Revenue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As we are leveraging the autonomous capability of our systems using the AI algorithms(as for our dynamic pricing), we don’t have to worry about the quality for the next customer.</a:t>
            </a:r>
          </a:p>
        </p:txBody>
      </p:sp>
    </p:spTree>
    <p:extLst>
      <p:ext uri="{BB962C8B-B14F-4D97-AF65-F5344CB8AC3E}">
        <p14:creationId xmlns:p14="http://schemas.microsoft.com/office/powerpoint/2010/main" val="3155945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Business Model</a:t>
            </a:r>
          </a:p>
        </p:txBody>
      </p:sp>
      <p:sp>
        <p:nvSpPr>
          <p:cNvPr id="8" name="Content Placeholder 4"/>
          <p:cNvSpPr txBox="1">
            <a:spLocks/>
          </p:cNvSpPr>
          <p:nvPr/>
        </p:nvSpPr>
        <p:spPr>
          <a:xfrm>
            <a:off x="215661" y="2406771"/>
            <a:ext cx="9756475" cy="428732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US" b="1" dirty="0">
                <a:latin typeface="Arial" panose="020B0604020202020204" pitchFamily="34" charset="0"/>
                <a:cs typeface="Arial" panose="020B0604020202020204" pitchFamily="34" charset="0"/>
              </a:rPr>
              <a:t>Cost Structure </a:t>
            </a:r>
            <a:r>
              <a:rPr lang="en-US" dirty="0">
                <a:latin typeface="Arial" panose="020B0604020202020204" pitchFamily="34" charset="0"/>
                <a:cs typeface="Arial" panose="020B0604020202020204" pitchFamily="34" charset="0"/>
              </a:rPr>
              <a:t>:</a:t>
            </a:r>
          </a:p>
          <a:p>
            <a:pPr marL="971550" lvl="1" indent="-285750"/>
            <a:r>
              <a:rPr lang="en-US" sz="1600" b="1" dirty="0">
                <a:latin typeface="Arial" panose="020B0604020202020204" pitchFamily="34" charset="0"/>
                <a:cs typeface="Arial" panose="020B0604020202020204" pitchFamily="34" charset="0"/>
              </a:rPr>
              <a:t>Capex</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High Initial Capital Expenditure is required to train our AI models and also to develop highly scalable architecture for our systems.</a:t>
            </a:r>
          </a:p>
          <a:p>
            <a:pPr marL="971550" lvl="1" indent="-285750"/>
            <a:r>
              <a:rPr lang="en-US" sz="1600" b="1" dirty="0">
                <a:latin typeface="Arial" panose="020B0604020202020204" pitchFamily="34" charset="0"/>
                <a:cs typeface="Arial" panose="020B0604020202020204" pitchFamily="34" charset="0"/>
              </a:rPr>
              <a:t>OPEX</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Low Operating Expenditure is required as once out AI models are trained running them and managing additional cloud compute is minor.</a:t>
            </a:r>
          </a:p>
          <a:p>
            <a:pPr marL="971550" lvl="1" indent="-285750"/>
            <a:endParaRPr lang="en-US" sz="1600" b="1" dirty="0">
              <a:latin typeface="Arial" panose="020B0604020202020204" pitchFamily="34" charset="0"/>
              <a:cs typeface="Arial" panose="020B0604020202020204" pitchFamily="34" charset="0"/>
            </a:endParaRPr>
          </a:p>
          <a:p>
            <a:pPr marL="514350" indent="-285750"/>
            <a:r>
              <a:rPr lang="en-US" b="1" dirty="0">
                <a:latin typeface="Arial" panose="020B0604020202020204" pitchFamily="34" charset="0"/>
                <a:cs typeface="Arial" panose="020B0604020202020204" pitchFamily="34" charset="0"/>
              </a:rPr>
              <a:t>Scalability </a:t>
            </a:r>
            <a:r>
              <a:rPr lang="en-US" dirty="0">
                <a:latin typeface="Arial" panose="020B0604020202020204" pitchFamily="34" charset="0"/>
                <a:cs typeface="Arial" panose="020B0604020202020204" pitchFamily="34" charset="0"/>
              </a:rPr>
              <a:t>:</a:t>
            </a:r>
          </a:p>
          <a:p>
            <a:pPr marL="971550" lvl="1" indent="-285750"/>
            <a:r>
              <a:rPr lang="en-US" sz="1600" dirty="0">
                <a:latin typeface="Arial" panose="020B0604020202020204" pitchFamily="34" charset="0"/>
                <a:cs typeface="Arial" panose="020B0604020202020204" pitchFamily="34" charset="0"/>
              </a:rPr>
              <a:t>The goal is to achieve Economies of Scale. The initial high fixed cost(R&amp;D) is spread across thousands of properties and for a long period of time, leading to constant(low) but efficient Marginal Cost</a:t>
            </a:r>
          </a:p>
          <a:p>
            <a:pPr marL="971550" lvl="1" indent="-285750"/>
            <a:endParaRPr lang="en-US" sz="1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6762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50CCF-5269-8741-65AE-66961D1EDC0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186FF2-C322-F6AC-504F-AB703F88EA96}"/>
              </a:ext>
            </a:extLst>
          </p:cNvPr>
          <p:cNvSpPr>
            <a:spLocks noGrp="1"/>
          </p:cNvSpPr>
          <p:nvPr>
            <p:ph type="title"/>
          </p:nvPr>
        </p:nvSpPr>
        <p:spPr/>
        <p:txBody>
          <a:bodyPr/>
          <a:lstStyle/>
          <a:p>
            <a:r>
              <a:rPr lang="en-US" dirty="0"/>
              <a:t>ESG/CSR Aspects</a:t>
            </a:r>
          </a:p>
        </p:txBody>
      </p:sp>
      <p:sp>
        <p:nvSpPr>
          <p:cNvPr id="8" name="Content Placeholder 4">
            <a:extLst>
              <a:ext uri="{FF2B5EF4-FFF2-40B4-BE49-F238E27FC236}">
                <a16:creationId xmlns:a16="http://schemas.microsoft.com/office/drawing/2014/main" id="{99202223-D7FD-40E9-1ADF-380AA6832EB4}"/>
              </a:ext>
            </a:extLst>
          </p:cNvPr>
          <p:cNvSpPr txBox="1">
            <a:spLocks/>
          </p:cNvSpPr>
          <p:nvPr/>
        </p:nvSpPr>
        <p:spPr>
          <a:xfrm>
            <a:off x="258792" y="2346385"/>
            <a:ext cx="11688793" cy="424419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Corporate Social Responsibility (CSR):</a:t>
            </a:r>
          </a:p>
          <a:p>
            <a:pPr>
              <a:lnSpc>
                <a:spcPts val="3600"/>
              </a:lnSpc>
            </a:pPr>
            <a:r>
              <a:rPr lang="en-US" sz="2000" dirty="0">
                <a:latin typeface="Arial" panose="020B0604020202020204" pitchFamily="34" charset="0"/>
                <a:cs typeface="Arial" panose="020B0604020202020204" pitchFamily="34" charset="0"/>
              </a:rPr>
              <a:t>Social Mission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RentOut’s core mission is to empower independent host-families to support their financial goals and also help to reduce Operational Overload.</a:t>
            </a:r>
          </a:p>
          <a:p>
            <a:pPr>
              <a:lnSpc>
                <a:spcPts val="3600"/>
              </a:lnSpc>
            </a:pPr>
            <a:r>
              <a:rPr lang="en-US" sz="2000" dirty="0">
                <a:latin typeface="Arial" panose="020B0604020202020204" pitchFamily="34" charset="0"/>
                <a:cs typeface="Arial" panose="020B0604020202020204" pitchFamily="34" charset="0"/>
              </a:rPr>
              <a:t>Worker Welfare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We also want to help our local service partners(cleaners/maintenance), by effortlessly connecting them with our Host Properties.</a:t>
            </a:r>
          </a:p>
          <a:p>
            <a:pPr marL="0" indent="0">
              <a:lnSpc>
                <a:spcPts val="3600"/>
              </a:lnSpc>
              <a:buFont typeface="Arial" panose="020B0604020202020204" pitchFamily="34" charse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76714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5A41D-05A6-6A11-6FD9-6006E62224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42270-6128-4E44-30E9-6975702295D3}"/>
              </a:ext>
            </a:extLst>
          </p:cNvPr>
          <p:cNvSpPr>
            <a:spLocks noGrp="1"/>
          </p:cNvSpPr>
          <p:nvPr>
            <p:ph type="title"/>
          </p:nvPr>
        </p:nvSpPr>
        <p:spPr/>
        <p:txBody>
          <a:bodyPr/>
          <a:lstStyle/>
          <a:p>
            <a:r>
              <a:rPr lang="en-US" dirty="0"/>
              <a:t>ESG/CSR Aspects</a:t>
            </a:r>
          </a:p>
        </p:txBody>
      </p:sp>
      <p:sp>
        <p:nvSpPr>
          <p:cNvPr id="8" name="Content Placeholder 4">
            <a:extLst>
              <a:ext uri="{FF2B5EF4-FFF2-40B4-BE49-F238E27FC236}">
                <a16:creationId xmlns:a16="http://schemas.microsoft.com/office/drawing/2014/main" id="{11667B9A-B673-C1AE-D35B-47DD7C6E6953}"/>
              </a:ext>
            </a:extLst>
          </p:cNvPr>
          <p:cNvSpPr txBox="1">
            <a:spLocks/>
          </p:cNvSpPr>
          <p:nvPr/>
        </p:nvSpPr>
        <p:spPr>
          <a:xfrm>
            <a:off x="249291" y="2337758"/>
            <a:ext cx="11672415" cy="422694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ESG: How?</a:t>
            </a:r>
          </a:p>
          <a:p>
            <a:pPr>
              <a:lnSpc>
                <a:spcPts val="3600"/>
              </a:lnSpc>
            </a:pPr>
            <a:r>
              <a:rPr lang="en-US" sz="2000" dirty="0">
                <a:latin typeface="Arial" panose="020B0604020202020204" pitchFamily="34" charset="0"/>
                <a:cs typeface="Arial" panose="020B0604020202020204" pitchFamily="34" charset="0"/>
              </a:rPr>
              <a:t>S(Social): Empowering families by helping them to run their own business and become Entrepreneurs.</a:t>
            </a:r>
          </a:p>
          <a:p>
            <a:pPr>
              <a:lnSpc>
                <a:spcPts val="3600"/>
              </a:lnSpc>
            </a:pPr>
            <a:r>
              <a:rPr lang="en-US" sz="2000" dirty="0">
                <a:latin typeface="Arial" panose="020B0604020202020204" pitchFamily="34" charset="0"/>
                <a:cs typeface="Arial" panose="020B0604020202020204" pitchFamily="34" charset="0"/>
              </a:rPr>
              <a:t>E(Environmental): Since running AI models and servers for compute consumes a lot of energy, at RentOut we plan to use renewable energy and commit on achieving net-zero carbon operations.</a:t>
            </a:r>
          </a:p>
          <a:p>
            <a:pPr>
              <a:lnSpc>
                <a:spcPts val="3600"/>
              </a:lnSpc>
            </a:pPr>
            <a:r>
              <a:rPr lang="en-US" sz="2000" dirty="0">
                <a:latin typeface="Arial" panose="020B0604020202020204" pitchFamily="34" charset="0"/>
                <a:cs typeface="Arial" panose="020B0604020202020204" pitchFamily="34" charset="0"/>
              </a:rPr>
              <a:t>G(Governance): As an autonomous platform, we will provide the Hosts with a comprehensive dashboard displaying every major AI decision taken(Price raised due to local booking pattern, etc.) </a:t>
            </a:r>
          </a:p>
        </p:txBody>
      </p:sp>
    </p:spTree>
    <p:extLst>
      <p:ext uri="{BB962C8B-B14F-4D97-AF65-F5344CB8AC3E}">
        <p14:creationId xmlns:p14="http://schemas.microsoft.com/office/powerpoint/2010/main" val="24329995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F67E4-0119-26EE-42FE-D6D525D383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D2B645-4119-7C2B-450F-F0D404FECA02}"/>
              </a:ext>
            </a:extLst>
          </p:cNvPr>
          <p:cNvSpPr>
            <a:spLocks noGrp="1"/>
          </p:cNvSpPr>
          <p:nvPr>
            <p:ph type="title"/>
          </p:nvPr>
        </p:nvSpPr>
        <p:spPr/>
        <p:txBody>
          <a:bodyPr/>
          <a:lstStyle/>
          <a:p>
            <a:r>
              <a:rPr lang="en-US" dirty="0"/>
              <a:t>Management – Innovation &amp; Change</a:t>
            </a:r>
          </a:p>
        </p:txBody>
      </p:sp>
      <p:sp>
        <p:nvSpPr>
          <p:cNvPr id="8" name="Content Placeholder 4">
            <a:extLst>
              <a:ext uri="{FF2B5EF4-FFF2-40B4-BE49-F238E27FC236}">
                <a16:creationId xmlns:a16="http://schemas.microsoft.com/office/drawing/2014/main" id="{61C650E2-EE4A-6995-6655-E30F29AD34EE}"/>
              </a:ext>
            </a:extLst>
          </p:cNvPr>
          <p:cNvSpPr txBox="1">
            <a:spLocks/>
          </p:cNvSpPr>
          <p:nvPr/>
        </p:nvSpPr>
        <p:spPr>
          <a:xfrm>
            <a:off x="267419" y="2337758"/>
            <a:ext cx="11645659" cy="427007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lang="en-US" sz="2000" dirty="0">
                <a:latin typeface="Arial" panose="020B0604020202020204" pitchFamily="34" charset="0"/>
                <a:cs typeface="Arial" panose="020B0604020202020204" pitchFamily="34" charset="0"/>
              </a:rPr>
              <a:t>Innovation Type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a:t>
            </a:r>
            <a:r>
              <a:rPr lang="en-US" sz="2000" u="sng" dirty="0">
                <a:latin typeface="Arial" panose="020B0604020202020204" pitchFamily="34" charset="0"/>
                <a:cs typeface="Arial" panose="020B0604020202020204" pitchFamily="34" charset="0"/>
              </a:rPr>
              <a:t>Architectural Innovation</a:t>
            </a:r>
            <a:r>
              <a:rPr lang="en-US" sz="2000" dirty="0">
                <a:latin typeface="Arial" panose="020B0604020202020204" pitchFamily="34" charset="0"/>
                <a:cs typeface="Arial" panose="020B0604020202020204" pitchFamily="34" charset="0"/>
              </a:rPr>
              <a:t>. We introduce a new technology(AI autonomous agents for tasks), while maintaining the same Business Model – which is commission-based property management.</a:t>
            </a:r>
          </a:p>
          <a:p>
            <a:pPr>
              <a:lnSpc>
                <a:spcPts val="3600"/>
              </a:lnSpc>
            </a:pPr>
            <a:r>
              <a:rPr lang="en-US" sz="2000" dirty="0">
                <a:latin typeface="Arial" panose="020B0604020202020204" pitchFamily="34" charset="0"/>
                <a:cs typeface="Arial" panose="020B0604020202020204" pitchFamily="34" charset="0"/>
              </a:rPr>
              <a:t>Change Strategy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We focus on </a:t>
            </a:r>
            <a:r>
              <a:rPr lang="en-US" sz="2000" u="sng" dirty="0">
                <a:latin typeface="Arial" panose="020B0604020202020204" pitchFamily="34" charset="0"/>
                <a:cs typeface="Arial" panose="020B0604020202020204" pitchFamily="34" charset="0"/>
              </a:rPr>
              <a:t>Process Innovation</a:t>
            </a:r>
            <a:r>
              <a:rPr lang="en-US" sz="2000" dirty="0">
                <a:latin typeface="Arial" panose="020B0604020202020204" pitchFamily="34" charset="0"/>
                <a:cs typeface="Arial" panose="020B0604020202020204" pitchFamily="34" charset="0"/>
              </a:rPr>
              <a:t>, changing the way services are delivered.</a:t>
            </a:r>
          </a:p>
          <a:p>
            <a:pPr>
              <a:lnSpc>
                <a:spcPts val="3600"/>
              </a:lnSpc>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18334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34F1-EFD5-822E-05AE-DC1CE17196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578863-BA41-BBC2-1132-C57A627A2A37}"/>
              </a:ext>
            </a:extLst>
          </p:cNvPr>
          <p:cNvSpPr>
            <a:spLocks noGrp="1"/>
          </p:cNvSpPr>
          <p:nvPr>
            <p:ph type="title"/>
          </p:nvPr>
        </p:nvSpPr>
        <p:spPr/>
        <p:txBody>
          <a:bodyPr/>
          <a:lstStyle/>
          <a:p>
            <a:r>
              <a:rPr lang="en-US" dirty="0"/>
              <a:t>Management – Innovation &amp; Change</a:t>
            </a:r>
          </a:p>
        </p:txBody>
      </p:sp>
      <p:sp>
        <p:nvSpPr>
          <p:cNvPr id="8" name="Content Placeholder 4">
            <a:extLst>
              <a:ext uri="{FF2B5EF4-FFF2-40B4-BE49-F238E27FC236}">
                <a16:creationId xmlns:a16="http://schemas.microsoft.com/office/drawing/2014/main" id="{B44107F1-FC72-4B28-329F-3CE5840A1D0E}"/>
              </a:ext>
            </a:extLst>
          </p:cNvPr>
          <p:cNvSpPr txBox="1">
            <a:spLocks/>
          </p:cNvSpPr>
          <p:nvPr/>
        </p:nvSpPr>
        <p:spPr>
          <a:xfrm>
            <a:off x="258792" y="2320506"/>
            <a:ext cx="11680166" cy="4252822"/>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As RentOut is an Architectural Innovation, the organization’s structure should be agile enough to handle continuous technological change without becoming slow or bureaucratic.</a:t>
            </a:r>
          </a:p>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Enterprise Model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Organization by Projects</a:t>
            </a:r>
          </a:p>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Coordination Type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Collaboration-driven</a:t>
            </a:r>
          </a:p>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Internal Management </a:t>
            </a:r>
            <a:r>
              <a:rPr lang="en-US"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Process Management(DevOps – Optimize operations with the final user in mind[</a:t>
            </a:r>
            <a:r>
              <a:rPr lang="en-US" sz="2000" dirty="0">
                <a:latin typeface="Arial" panose="020B0604020202020204" pitchFamily="34" charset="0"/>
                <a:cs typeface="Arial" panose="020B0604020202020204" pitchFamily="34" charset="0"/>
                <a:hlinkClick r:id="rId3"/>
              </a:rPr>
              <a:t>link</a:t>
            </a:r>
            <a:r>
              <a:rPr lang="en-US" sz="2000" dirty="0">
                <a:latin typeface="Arial" panose="020B0604020202020204" pitchFamily="34" charset="0"/>
                <a:cs typeface="Arial" panose="020B0604020202020204" pitchFamily="34" charset="0"/>
              </a:rPr>
              <a:t>])</a:t>
            </a:r>
          </a:p>
          <a:p>
            <a:pPr marL="0" indent="0">
              <a:lnSpc>
                <a:spcPts val="3600"/>
              </a:lnSpc>
              <a:buFont typeface="Arial" panose="020B0604020202020204" pitchFamily="34" charse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8563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FE481-4B47-BA2F-AE3E-BBC0012C73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83D9CD-5282-3708-E8ED-12AE1582E741}"/>
              </a:ext>
            </a:extLst>
          </p:cNvPr>
          <p:cNvSpPr>
            <a:spLocks noGrp="1"/>
          </p:cNvSpPr>
          <p:nvPr>
            <p:ph type="title"/>
          </p:nvPr>
        </p:nvSpPr>
        <p:spPr/>
        <p:txBody>
          <a:bodyPr/>
          <a:lstStyle/>
          <a:p>
            <a:r>
              <a:rPr lang="en-US" dirty="0"/>
              <a:t>Management – Innovation &amp; Change</a:t>
            </a:r>
          </a:p>
        </p:txBody>
      </p:sp>
      <p:sp>
        <p:nvSpPr>
          <p:cNvPr id="8" name="Content Placeholder 4">
            <a:extLst>
              <a:ext uri="{FF2B5EF4-FFF2-40B4-BE49-F238E27FC236}">
                <a16:creationId xmlns:a16="http://schemas.microsoft.com/office/drawing/2014/main" id="{3123AC75-66B9-ADFC-E18E-D8DD45905E6D}"/>
              </a:ext>
            </a:extLst>
          </p:cNvPr>
          <p:cNvSpPr txBox="1">
            <a:spLocks/>
          </p:cNvSpPr>
          <p:nvPr/>
        </p:nvSpPr>
        <p:spPr>
          <a:xfrm>
            <a:off x="258792" y="2346385"/>
            <a:ext cx="11671540" cy="42355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The Role of the People: The T-Shaped Team</a:t>
            </a:r>
          </a:p>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We need to prioritize T-shaped people while forming the Team, as these are people who posses cross-skilled(horizontal) knowledge and expertise in a single field(vertical).[</a:t>
            </a:r>
            <a:r>
              <a:rPr lang="en-US" sz="2000" dirty="0">
                <a:latin typeface="Arial" panose="020B0604020202020204" pitchFamily="34" charset="0"/>
                <a:cs typeface="Arial" panose="020B0604020202020204" pitchFamily="34" charset="0"/>
                <a:hlinkClick r:id="rId3"/>
              </a:rPr>
              <a:t>Wikipedia</a:t>
            </a:r>
            <a:r>
              <a:rPr 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8810947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EE7C-13A3-5782-949C-F0A7BBBBCD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02FA8B-9979-A840-E3F9-9C6CE33F50FC}"/>
              </a:ext>
            </a:extLst>
          </p:cNvPr>
          <p:cNvSpPr>
            <a:spLocks noGrp="1"/>
          </p:cNvSpPr>
          <p:nvPr>
            <p:ph type="title"/>
          </p:nvPr>
        </p:nvSpPr>
        <p:spPr/>
        <p:txBody>
          <a:bodyPr/>
          <a:lstStyle/>
          <a:p>
            <a:r>
              <a:rPr lang="en-US" dirty="0"/>
              <a:t>Management – Strategy &amp; Decision Making</a:t>
            </a:r>
          </a:p>
        </p:txBody>
      </p:sp>
      <p:sp>
        <p:nvSpPr>
          <p:cNvPr id="8" name="Content Placeholder 4">
            <a:extLst>
              <a:ext uri="{FF2B5EF4-FFF2-40B4-BE49-F238E27FC236}">
                <a16:creationId xmlns:a16="http://schemas.microsoft.com/office/drawing/2014/main" id="{1D00B564-BFB6-DC05-31DF-87882EAFE542}"/>
              </a:ext>
            </a:extLst>
          </p:cNvPr>
          <p:cNvSpPr txBox="1">
            <a:spLocks/>
          </p:cNvSpPr>
          <p:nvPr/>
        </p:nvSpPr>
        <p:spPr>
          <a:xfrm>
            <a:off x="258792" y="2346385"/>
            <a:ext cx="11671540" cy="42355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Strategy : Strategic Management</a:t>
            </a:r>
          </a:p>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As RentOut is focused on AI architecture to achieve a Cost Advantage(as our CAPEX is high but OPEX is low), we should focus on Strategic Management which is long-term, sustainable and gives us a competitive advantage</a:t>
            </a:r>
          </a:p>
          <a:p>
            <a:pPr marL="0" indent="0">
              <a:lnSpc>
                <a:spcPts val="3600"/>
              </a:lnSpc>
              <a:buFont typeface="Arial" panose="020B0604020202020204" pitchFamily="34" charse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26291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D96AD-1DF2-B8A4-D439-FE98C5447B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4555DD-4784-F613-B04C-D606DDD58148}"/>
              </a:ext>
            </a:extLst>
          </p:cNvPr>
          <p:cNvSpPr>
            <a:spLocks noGrp="1"/>
          </p:cNvSpPr>
          <p:nvPr>
            <p:ph type="title"/>
          </p:nvPr>
        </p:nvSpPr>
        <p:spPr/>
        <p:txBody>
          <a:bodyPr/>
          <a:lstStyle/>
          <a:p>
            <a:r>
              <a:rPr lang="en-US" dirty="0"/>
              <a:t>Management – Strategy &amp; Decision Making</a:t>
            </a:r>
          </a:p>
        </p:txBody>
      </p:sp>
      <p:sp>
        <p:nvSpPr>
          <p:cNvPr id="8" name="Content Placeholder 4">
            <a:extLst>
              <a:ext uri="{FF2B5EF4-FFF2-40B4-BE49-F238E27FC236}">
                <a16:creationId xmlns:a16="http://schemas.microsoft.com/office/drawing/2014/main" id="{BABDC19B-AF2C-5ECB-A578-8833BF7D0038}"/>
              </a:ext>
            </a:extLst>
          </p:cNvPr>
          <p:cNvSpPr txBox="1">
            <a:spLocks/>
          </p:cNvSpPr>
          <p:nvPr/>
        </p:nvSpPr>
        <p:spPr>
          <a:xfrm>
            <a:off x="258792" y="2346385"/>
            <a:ext cx="11671540" cy="42355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Decision Making Principles:</a:t>
            </a:r>
          </a:p>
          <a:p>
            <a:pPr marL="0" indent="0">
              <a:lnSpc>
                <a:spcPts val="3600"/>
              </a:lnSpc>
              <a:buFont typeface="Arial" panose="020B0604020202020204" pitchFamily="34" charset="0"/>
              <a:buNone/>
            </a:pPr>
            <a:r>
              <a:rPr lang="en-US" sz="2000" dirty="0">
                <a:latin typeface="Arial" panose="020B0604020202020204" pitchFamily="34" charset="0"/>
                <a:cs typeface="Arial" panose="020B0604020202020204" pitchFamily="34" charset="0"/>
              </a:rPr>
              <a:t>RentOut’s technology-driven strategy requires a rigorous and efficient approach to decision-making</a:t>
            </a:r>
          </a:p>
          <a:p>
            <a:pPr>
              <a:lnSpc>
                <a:spcPts val="3600"/>
              </a:lnSpc>
            </a:pPr>
            <a:r>
              <a:rPr lang="en-US" sz="2000" dirty="0">
                <a:latin typeface="Arial" panose="020B0604020202020204" pitchFamily="34" charset="0"/>
                <a:cs typeface="Arial" panose="020B0604020202020204" pitchFamily="34" charset="0"/>
              </a:rPr>
              <a:t>Avoid Biases – Management must actively avoid biases by having a Reflective Mindset, as we have to avoid relying on traditional hospitality metrics.</a:t>
            </a:r>
          </a:p>
          <a:p>
            <a:pPr>
              <a:lnSpc>
                <a:spcPts val="3600"/>
              </a:lnSpc>
            </a:pPr>
            <a:r>
              <a:rPr lang="en-US" sz="2000" dirty="0">
                <a:latin typeface="Arial" panose="020B0604020202020204" pitchFamily="34" charset="0"/>
                <a:cs typeface="Arial" panose="020B0604020202020204" pitchFamily="34" charset="0"/>
              </a:rPr>
              <a:t>Collaborative  Process – We should have a collaborative process for decision making and not a arbitrary Top-Down action tree.</a:t>
            </a:r>
          </a:p>
          <a:p>
            <a:pPr marL="0" indent="0">
              <a:lnSpc>
                <a:spcPts val="3600"/>
              </a:lnSpc>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540145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AB525-A694-1823-0810-7526209B2E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AA6A21-26D4-2195-C019-19DEA79A3A94}"/>
              </a:ext>
            </a:extLst>
          </p:cNvPr>
          <p:cNvSpPr>
            <a:spLocks noGrp="1"/>
          </p:cNvSpPr>
          <p:nvPr>
            <p:ph type="title"/>
          </p:nvPr>
        </p:nvSpPr>
        <p:spPr>
          <a:xfrm>
            <a:off x="516711" y="876724"/>
            <a:ext cx="10515600" cy="1325563"/>
          </a:xfrm>
        </p:spPr>
        <p:txBody>
          <a:bodyPr anchor="b">
            <a:normAutofit/>
          </a:bodyPr>
          <a:lstStyle/>
          <a:p>
            <a:r>
              <a:rPr lang="en-US" dirty="0"/>
              <a:t>SWOT</a:t>
            </a:r>
          </a:p>
        </p:txBody>
      </p:sp>
      <p:pic>
        <p:nvPicPr>
          <p:cNvPr id="3" name="Picture 2" descr="A diagram of a swot&#10;&#10;AI-generated content may be incorrect.">
            <a:extLst>
              <a:ext uri="{FF2B5EF4-FFF2-40B4-BE49-F238E27FC236}">
                <a16:creationId xmlns:a16="http://schemas.microsoft.com/office/drawing/2014/main" id="{3B506C06-E40F-DDCC-20D8-9884AF91B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2699" y="2560639"/>
            <a:ext cx="6800472" cy="3978275"/>
          </a:xfrm>
          <a:prstGeom prst="rect">
            <a:avLst/>
          </a:prstGeom>
          <a:noFill/>
        </p:spPr>
      </p:pic>
      <p:sp>
        <p:nvSpPr>
          <p:cNvPr id="8" name="Content Placeholder 4">
            <a:extLst>
              <a:ext uri="{FF2B5EF4-FFF2-40B4-BE49-F238E27FC236}">
                <a16:creationId xmlns:a16="http://schemas.microsoft.com/office/drawing/2014/main" id="{B9FD53CC-3DCC-5723-5DCC-90ECB321A29C}"/>
              </a:ext>
            </a:extLst>
          </p:cNvPr>
          <p:cNvSpPr txBox="1">
            <a:spLocks/>
          </p:cNvSpPr>
          <p:nvPr/>
        </p:nvSpPr>
        <p:spPr>
          <a:xfrm>
            <a:off x="258792" y="2346385"/>
            <a:ext cx="11671540" cy="423556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2400" kern="1200" baseline="0" smtClean="0">
                <a:solidFill>
                  <a:schemeClr val="tx1">
                    <a:lumMod val="65000"/>
                    <a:lumOff val="35000"/>
                  </a:schemeClr>
                </a:solidFill>
                <a:latin typeface="+mj-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3600"/>
              </a:lnSpc>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10476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FE705-1DAB-439F-1A94-F25FB5DD2216}"/>
              </a:ext>
            </a:extLst>
          </p:cNvPr>
          <p:cNvSpPr>
            <a:spLocks noGrp="1"/>
          </p:cNvSpPr>
          <p:nvPr>
            <p:ph type="title"/>
          </p:nvPr>
        </p:nvSpPr>
        <p:spPr/>
        <p:txBody>
          <a:bodyPr/>
          <a:lstStyle/>
          <a:p>
            <a:r>
              <a:rPr lang="en-FR" dirty="0"/>
              <a:t>References</a:t>
            </a:r>
          </a:p>
        </p:txBody>
      </p:sp>
      <p:sp>
        <p:nvSpPr>
          <p:cNvPr id="3" name="Content Placeholder 2">
            <a:extLst>
              <a:ext uri="{FF2B5EF4-FFF2-40B4-BE49-F238E27FC236}">
                <a16:creationId xmlns:a16="http://schemas.microsoft.com/office/drawing/2014/main" id="{C3D9CAB4-D3A9-A927-9A21-B84258FEEBD1}"/>
              </a:ext>
            </a:extLst>
          </p:cNvPr>
          <p:cNvSpPr>
            <a:spLocks noGrp="1"/>
          </p:cNvSpPr>
          <p:nvPr>
            <p:ph sz="half" idx="2"/>
          </p:nvPr>
        </p:nvSpPr>
        <p:spPr/>
        <p:txBody>
          <a:bodyPr/>
          <a:lstStyle/>
          <a:p>
            <a:r>
              <a:rPr lang="en-GB" sz="1400" dirty="0"/>
              <a:t>Project Origin and Idea Ownership</a:t>
            </a:r>
            <a:endParaRPr lang="en-FR" sz="1400" dirty="0"/>
          </a:p>
          <a:p>
            <a:pPr lvl="1"/>
            <a:r>
              <a:rPr lang="en-GB" sz="1000" dirty="0"/>
              <a:t>RentOut is a Concept Idea originated from the Pioneer’s Lab Hackathon. The team comprises of Anastasios, me and Paula. The core principle was to "help families cut out the middleman" and solve operational stress</a:t>
            </a:r>
          </a:p>
          <a:p>
            <a:r>
              <a:rPr lang="en-GB" sz="1400" dirty="0"/>
              <a:t>Use of Generative AI</a:t>
            </a:r>
          </a:p>
          <a:p>
            <a:pPr lvl="1"/>
            <a:r>
              <a:rPr lang="en-GB" sz="1000" dirty="0"/>
              <a:t>Used as a Collaborative and Analytical Board to structure the outline of the Presentation and to create a link between the topics</a:t>
            </a:r>
          </a:p>
          <a:p>
            <a:pPr lvl="2"/>
            <a:r>
              <a:rPr lang="en-GB" sz="1000" dirty="0"/>
              <a:t>Used to brainstorm which type of Innovation fit’s RentOut</a:t>
            </a:r>
          </a:p>
          <a:p>
            <a:pPr lvl="2"/>
            <a:r>
              <a:rPr lang="en-GB" sz="1000" dirty="0"/>
              <a:t>Used to brainstorm Management Decision Making</a:t>
            </a:r>
          </a:p>
          <a:p>
            <a:pPr lvl="2"/>
            <a:r>
              <a:rPr lang="en-GB" sz="1000" dirty="0"/>
              <a:t>No content was copied directly without</a:t>
            </a:r>
          </a:p>
          <a:p>
            <a:r>
              <a:rPr lang="en-GB" sz="1400" dirty="0"/>
              <a:t>Academic and Course References</a:t>
            </a:r>
          </a:p>
        </p:txBody>
      </p:sp>
    </p:spTree>
    <p:extLst>
      <p:ext uri="{BB962C8B-B14F-4D97-AF65-F5344CB8AC3E}">
        <p14:creationId xmlns:p14="http://schemas.microsoft.com/office/powerpoint/2010/main" val="2114687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CC101-F245-B337-ADA6-164B5E077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6C1A9-5AC9-5E4F-4160-F13C21A1E15F}"/>
              </a:ext>
            </a:extLst>
          </p:cNvPr>
          <p:cNvSpPr>
            <a:spLocks noGrp="1"/>
          </p:cNvSpPr>
          <p:nvPr>
            <p:ph type="title"/>
          </p:nvPr>
        </p:nvSpPr>
        <p:spPr/>
        <p:txBody>
          <a:bodyPr/>
          <a:lstStyle/>
          <a:p>
            <a:r>
              <a:rPr lang="en-FR" dirty="0"/>
              <a:t>References</a:t>
            </a:r>
          </a:p>
        </p:txBody>
      </p:sp>
      <p:sp>
        <p:nvSpPr>
          <p:cNvPr id="3" name="Content Placeholder 2">
            <a:extLst>
              <a:ext uri="{FF2B5EF4-FFF2-40B4-BE49-F238E27FC236}">
                <a16:creationId xmlns:a16="http://schemas.microsoft.com/office/drawing/2014/main" id="{5825ED3C-466B-27A2-DAA8-ABF9868EEA9F}"/>
              </a:ext>
            </a:extLst>
          </p:cNvPr>
          <p:cNvSpPr>
            <a:spLocks noGrp="1"/>
          </p:cNvSpPr>
          <p:nvPr>
            <p:ph sz="half" idx="2"/>
          </p:nvPr>
        </p:nvSpPr>
        <p:spPr>
          <a:xfrm>
            <a:off x="541611" y="2380891"/>
            <a:ext cx="9442648" cy="4158023"/>
          </a:xfrm>
        </p:spPr>
        <p:txBody>
          <a:bodyPr/>
          <a:lstStyle/>
          <a:p>
            <a:r>
              <a:rPr lang="en-GB" sz="1400" dirty="0">
                <a:latin typeface="+mn-lt"/>
              </a:rPr>
              <a:t>Academic and Course References</a:t>
            </a:r>
          </a:p>
          <a:p>
            <a:endParaRPr lang="en-GB" sz="1400" dirty="0"/>
          </a:p>
        </p:txBody>
      </p:sp>
      <p:graphicFrame>
        <p:nvGraphicFramePr>
          <p:cNvPr id="4" name="Table 3">
            <a:extLst>
              <a:ext uri="{FF2B5EF4-FFF2-40B4-BE49-F238E27FC236}">
                <a16:creationId xmlns:a16="http://schemas.microsoft.com/office/drawing/2014/main" id="{F44706B6-1608-696D-4176-821FCEF1F65E}"/>
              </a:ext>
            </a:extLst>
          </p:cNvPr>
          <p:cNvGraphicFramePr>
            <a:graphicFrameLocks noGrp="1"/>
          </p:cNvGraphicFramePr>
          <p:nvPr>
            <p:extLst>
              <p:ext uri="{D42A27DB-BD31-4B8C-83A1-F6EECF244321}">
                <p14:modId xmlns:p14="http://schemas.microsoft.com/office/powerpoint/2010/main" val="3255468337"/>
              </p:ext>
            </p:extLst>
          </p:nvPr>
        </p:nvGraphicFramePr>
        <p:xfrm>
          <a:off x="602937" y="2789514"/>
          <a:ext cx="9623152" cy="3749402"/>
        </p:xfrm>
        <a:graphic>
          <a:graphicData uri="http://schemas.openxmlformats.org/drawingml/2006/table">
            <a:tbl>
              <a:tblPr/>
              <a:tblGrid>
                <a:gridCol w="4811576">
                  <a:extLst>
                    <a:ext uri="{9D8B030D-6E8A-4147-A177-3AD203B41FA5}">
                      <a16:colId xmlns:a16="http://schemas.microsoft.com/office/drawing/2014/main" val="3104582182"/>
                    </a:ext>
                  </a:extLst>
                </a:gridCol>
                <a:gridCol w="4811576">
                  <a:extLst>
                    <a:ext uri="{9D8B030D-6E8A-4147-A177-3AD203B41FA5}">
                      <a16:colId xmlns:a16="http://schemas.microsoft.com/office/drawing/2014/main" val="753004899"/>
                    </a:ext>
                  </a:extLst>
                </a:gridCol>
              </a:tblGrid>
              <a:tr h="307038">
                <a:tc>
                  <a:txBody>
                    <a:bodyPr/>
                    <a:lstStyle/>
                    <a:p>
                      <a:pPr>
                        <a:buNone/>
                      </a:pPr>
                      <a:r>
                        <a:rPr lang="en-GB" sz="1000" b="0" dirty="0">
                          <a:effectLst/>
                          <a:latin typeface="+mn-lt"/>
                        </a:rPr>
                        <a:t>Source/Concept</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a:effectLst/>
                          <a:latin typeface="+mn-lt"/>
                        </a:rPr>
                        <a:t>Course Reference</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07254806"/>
                  </a:ext>
                </a:extLst>
              </a:tr>
              <a:tr h="535629">
                <a:tc>
                  <a:txBody>
                    <a:bodyPr/>
                    <a:lstStyle/>
                    <a:p>
                      <a:pPr>
                        <a:buNone/>
                      </a:pPr>
                      <a:r>
                        <a:rPr lang="en-GB" sz="1000" b="0" dirty="0">
                          <a:effectLst/>
                          <a:latin typeface="+mn-lt"/>
                        </a:rPr>
                        <a:t>Enterprise Essentials Course Slides</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a:effectLst/>
                          <a:latin typeface="+mn-lt"/>
                        </a:rPr>
                        <a:t>Valeriu Petrulian, PhD. </a:t>
                      </a:r>
                      <a:r>
                        <a:rPr lang="en-GB" sz="1000" b="0" i="1">
                          <a:effectLst/>
                          <a:latin typeface="+mn-lt"/>
                        </a:rPr>
                        <a:t>Enterprise Essentials: Classes 1 through 6.</a:t>
                      </a:r>
                      <a:r>
                        <a:rPr lang="en-GB" sz="1000" b="0">
                          <a:effectLst/>
                          <a:latin typeface="+mn-lt"/>
                        </a:rPr>
                        <a:t> EPITA, Fall 2025.</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69141597"/>
                  </a:ext>
                </a:extLst>
              </a:tr>
              <a:tr h="535629">
                <a:tc>
                  <a:txBody>
                    <a:bodyPr/>
                    <a:lstStyle/>
                    <a:p>
                      <a:pPr>
                        <a:buNone/>
                      </a:pPr>
                      <a:r>
                        <a:rPr lang="en-GB" sz="1000" b="0">
                          <a:effectLst/>
                          <a:latin typeface="+mn-lt"/>
                        </a:rPr>
                        <a:t>Industry Structure / Strategy</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a:effectLst/>
                          <a:latin typeface="+mn-lt"/>
                        </a:rPr>
                        <a:t>Porter, Michael E. </a:t>
                      </a:r>
                      <a:r>
                        <a:rPr lang="en-GB" sz="1000" b="0" i="1">
                          <a:effectLst/>
                          <a:latin typeface="+mn-lt"/>
                        </a:rPr>
                        <a:t>Understanding Industry Structure</a:t>
                      </a:r>
                      <a:r>
                        <a:rPr lang="en-GB" sz="1000" b="0">
                          <a:effectLst/>
                          <a:latin typeface="+mn-lt"/>
                        </a:rPr>
                        <a:t> (C2, p3). (Porter's 5 Forces, Competitive Advantage)</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84625560"/>
                  </a:ext>
                </a:extLst>
              </a:tr>
              <a:tr h="535629">
                <a:tc>
                  <a:txBody>
                    <a:bodyPr/>
                    <a:lstStyle/>
                    <a:p>
                      <a:pPr>
                        <a:buNone/>
                      </a:pPr>
                      <a:r>
                        <a:rPr lang="en-GB" sz="1000" b="0">
                          <a:effectLst/>
                          <a:latin typeface="+mn-lt"/>
                        </a:rPr>
                        <a:t>Business Models</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a:effectLst/>
                          <a:latin typeface="+mn-lt"/>
                        </a:rPr>
                        <a:t>Osterwalder, Alexander; Pigneur, Yves. </a:t>
                      </a:r>
                      <a:r>
                        <a:rPr lang="en-GB" sz="1000" b="0" i="1">
                          <a:effectLst/>
                          <a:latin typeface="+mn-lt"/>
                        </a:rPr>
                        <a:t>The Business Model Canvas</a:t>
                      </a:r>
                      <a:r>
                        <a:rPr lang="en-GB" sz="1000" b="0">
                          <a:effectLst/>
                          <a:latin typeface="+mn-lt"/>
                        </a:rPr>
                        <a:t> (C4, p3).</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14791858"/>
                  </a:ext>
                </a:extLst>
              </a:tr>
              <a:tr h="535629">
                <a:tc>
                  <a:txBody>
                    <a:bodyPr/>
                    <a:lstStyle/>
                    <a:p>
                      <a:pPr>
                        <a:buNone/>
                      </a:pPr>
                      <a:r>
                        <a:rPr lang="en-GB" sz="1000" b="0">
                          <a:effectLst/>
                          <a:latin typeface="+mn-lt"/>
                        </a:rPr>
                        <a:t>Innovation &amp; Change</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a:effectLst/>
                          <a:latin typeface="+mn-lt"/>
                        </a:rPr>
                        <a:t>Christensen, Clayton M. </a:t>
                      </a:r>
                      <a:r>
                        <a:rPr lang="en-GB" sz="1000" b="0" i="1">
                          <a:effectLst/>
                          <a:latin typeface="+mn-lt"/>
                        </a:rPr>
                        <a:t>The Innovator's Dilemma</a:t>
                      </a:r>
                      <a:r>
                        <a:rPr lang="en-GB" sz="1000" b="0">
                          <a:effectLst/>
                          <a:latin typeface="+mn-lt"/>
                        </a:rPr>
                        <a:t> (C5, p36). (Architectural vs. Radical Innovation)</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64019279"/>
                  </a:ext>
                </a:extLst>
              </a:tr>
              <a:tr h="764219">
                <a:tc>
                  <a:txBody>
                    <a:bodyPr/>
                    <a:lstStyle/>
                    <a:p>
                      <a:pPr>
                        <a:buNone/>
                      </a:pPr>
                      <a:r>
                        <a:rPr lang="en-GB" sz="1000" b="0">
                          <a:effectLst/>
                          <a:latin typeface="+mn-lt"/>
                        </a:rPr>
                        <a:t>Management &amp; Organization</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a:effectLst/>
                          <a:latin typeface="+mn-lt"/>
                        </a:rPr>
                        <a:t>Greiner, Larry E. </a:t>
                      </a:r>
                      <a:r>
                        <a:rPr lang="en-GB" sz="1000" b="0" i="1">
                          <a:effectLst/>
                          <a:latin typeface="+mn-lt"/>
                        </a:rPr>
                        <a:t>Evolution and Revolution as Organizations Grow</a:t>
                      </a:r>
                      <a:r>
                        <a:rPr lang="en-GB" sz="1000" b="0">
                          <a:effectLst/>
                          <a:latin typeface="+mn-lt"/>
                        </a:rPr>
                        <a:t> (C6, p13). (Adhocracy/Project Mode)</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27644373"/>
                  </a:ext>
                </a:extLst>
              </a:tr>
              <a:tr h="535629">
                <a:tc>
                  <a:txBody>
                    <a:bodyPr/>
                    <a:lstStyle/>
                    <a:p>
                      <a:pPr>
                        <a:buNone/>
                      </a:pPr>
                      <a:r>
                        <a:rPr lang="en-GB" sz="1000" b="0">
                          <a:effectLst/>
                          <a:latin typeface="+mn-lt"/>
                        </a:rPr>
                        <a:t>Foundational Economics</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GB" sz="1000" b="0" dirty="0">
                          <a:effectLst/>
                          <a:latin typeface="+mn-lt"/>
                        </a:rPr>
                        <a:t>Coase, Ronald. </a:t>
                      </a:r>
                      <a:r>
                        <a:rPr lang="en-GB" sz="1000" b="0" i="1" dirty="0">
                          <a:effectLst/>
                          <a:latin typeface="+mn-lt"/>
                        </a:rPr>
                        <a:t>The Nature of the Firm</a:t>
                      </a:r>
                      <a:r>
                        <a:rPr lang="en-GB" sz="1000" b="0" dirty="0">
                          <a:effectLst/>
                          <a:latin typeface="+mn-lt"/>
                        </a:rPr>
                        <a:t> (C1, p56). (Transaction Costs)</a:t>
                      </a:r>
                    </a:p>
                  </a:txBody>
                  <a:tcPr marL="83680" marR="83680" marT="41840" marB="4184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00115321"/>
                  </a:ext>
                </a:extLst>
              </a:tr>
            </a:tbl>
          </a:graphicData>
        </a:graphic>
      </p:graphicFrame>
    </p:spTree>
    <p:extLst>
      <p:ext uri="{BB962C8B-B14F-4D97-AF65-F5344CB8AC3E}">
        <p14:creationId xmlns:p14="http://schemas.microsoft.com/office/powerpoint/2010/main" val="2292020708"/>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BDCB38D-89A7-4028-9490-C6CFD8B9ACEE}" vid="{AD1CAB8A-25D8-47C1-9714-E89BAB2EE4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WelcomeDoc</Template>
  <TotalTime>306</TotalTime>
  <Words>1244</Words>
  <Application>Microsoft Macintosh PowerPoint</Application>
  <PresentationFormat>Widescreen</PresentationFormat>
  <Paragraphs>117</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WelcomeDoc</vt:lpstr>
      <vt:lpstr>RentOut</vt:lpstr>
      <vt:lpstr>How can we help families to control their rentals?</vt:lpstr>
      <vt:lpstr>Reason of Being (Social Role and Mission)</vt:lpstr>
      <vt:lpstr>Core Competencies</vt:lpstr>
      <vt:lpstr>Industry Structure for RentOut</vt:lpstr>
      <vt:lpstr>Business Model</vt:lpstr>
      <vt:lpstr>Business Model</vt:lpstr>
      <vt:lpstr>ESG/CSR Aspects</vt:lpstr>
      <vt:lpstr>ESG/CSR Aspects</vt:lpstr>
      <vt:lpstr>Management – Innovation &amp; Change</vt:lpstr>
      <vt:lpstr>Management – Innovation &amp; Change</vt:lpstr>
      <vt:lpstr>Management – Innovation &amp; Change</vt:lpstr>
      <vt:lpstr>Management – Strategy &amp; Decision Making</vt:lpstr>
      <vt:lpstr>Management – Strategy &amp; Decision Making</vt:lpstr>
      <vt:lpstr>SWOT</vt:lpstr>
      <vt:lpstr>References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Arihant Jain</dc:creator>
  <cp:keywords/>
  <dc:description/>
  <cp:lastModifiedBy>Arihant Jain</cp:lastModifiedBy>
  <cp:revision>9</cp:revision>
  <dcterms:created xsi:type="dcterms:W3CDTF">2025-11-19T07:05:43Z</dcterms:created>
  <dcterms:modified xsi:type="dcterms:W3CDTF">2025-11-19T12:12:26Z</dcterms:modified>
  <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rogh@microsoft.com</vt:lpwstr>
  </property>
  <property fmtid="{D5CDD505-2E9C-101B-9397-08002B2CF9AE}" pid="5" name="MSIP_Label_f42aa342-8706-4288-bd11-ebb85995028c_SetDate">
    <vt:lpwstr>2018-02-05T19:56:32.6740186Z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